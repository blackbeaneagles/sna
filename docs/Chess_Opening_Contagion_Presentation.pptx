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Observed</c:v>
                </c:pt>
              </c:strCache>
            </c:strRef>
          </c:tx>
          <c:spPr>
            <a:solidFill>
              <a:srgbClr val="244336"/>
            </a:solidFill>
            <a:ln w="25400" cap="flat">
              <a:solidFill>
                <a:srgbClr val="24433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44336"/>
              </a:solidFill>
              <a:ln w="9525" cap="flat">
                <a:solidFill>
                  <a:srgbClr val="244336"/>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13.56</c:v>
                </c:pt>
                <c:pt idx="1">
                  <c:v>12.92</c:v>
                </c:pt>
                <c:pt idx="2">
                  <c:v>13.48</c:v>
                </c:pt>
                <c:pt idx="3">
                  <c:v>14.08</c:v>
                </c:pt>
                <c:pt idx="4">
                  <c:v>14.46</c:v>
                </c:pt>
                <c:pt idx="5">
                  <c:v>16.01</c:v>
                </c:pt>
              </c:numCache>
            </c:numRef>
          </c:val>
          <c:smooth val="0"/>
        </c:ser>
        <c:ser>
          <c:idx val="1"/>
          <c:order val="1"/>
          <c:tx>
            <c:strRef>
              <c:f>Sheet1!$C$1</c:f>
              <c:strCache>
                <c:ptCount val="1"/>
                <c:pt idx="0">
                  <c:v>Shuffled reference</c:v>
                </c:pt>
              </c:strCache>
            </c:strRef>
          </c:tx>
          <c:spPr>
            <a:solidFill>
              <a:srgbClr val="D3A64A"/>
            </a:solidFill>
            <a:ln w="25400" cap="flat">
              <a:solidFill>
                <a:srgbClr val="D3A6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3A64A"/>
              </a:solidFill>
              <a:ln w="9525" cap="flat">
                <a:solidFill>
                  <a:srgbClr val="D3A64A"/>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12.5</c:v>
                </c:pt>
                <c:pt idx="1">
                  <c:v>12.44</c:v>
                </c:pt>
                <c:pt idx="2">
                  <c:v>13.22</c:v>
                </c:pt>
                <c:pt idx="3">
                  <c:v>13.84</c:v>
                </c:pt>
                <c:pt idx="4">
                  <c:v>14.41</c:v>
                </c:pt>
                <c:pt idx="5">
                  <c:v>16.68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85D"/>
                </a:solidFill>
                <a:latin typeface="Arial"/>
              </a:defRPr>
            </a:pPr>
            <a:endParaRPr lang="en-US"/>
          </a:p>
        </c:txPr>
        <c:crossAx val="2094734552"/>
        <c:crosses val="autoZero"/>
        <c:auto val="1"/>
        <c:lblAlgn val="ctr"/>
        <c:noMultiLvlLbl val="1"/>
      </c:catAx>
      <c:valAx>
        <c:axId val="2094734552"/>
        <c:scaling>
          <c:orientation val="minMax"/>
          <c:max val="18"/>
          <c:min val="10"/>
        </c:scaling>
        <c:delete val="0"/>
        <c:axPos val="l"/>
        <c:majorGridlines>
          <c:spPr>
            <a:ln w="6350" cap="flat">
              <a:solidFill>
                <a:srgbClr val="D8E2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8685D"/>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Adoption rate</c:v>
                </c:pt>
              </c:strCache>
            </c:strRef>
          </c:tx>
          <c:spPr>
            <a:solidFill>
              <a:srgbClr val="244336"/>
            </a:solidFill>
            <a:effectLst/>
          </c:spPr>
          <c:invertIfNegative val="0"/>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Exposed players</c:v>
                  </c:pt>
                  <c:pt idx="1">
                    <c:v>Matched controls</c:v>
                  </c:pt>
                </c:lvl>
              </c:multiLvlStrCache>
            </c:multiLvlStrRef>
          </c:cat>
          <c:val>
            <c:numRef>
              <c:f>Sheet1!$B$2:$B$3</c:f>
              <c:numCache>
                <c:formatCode>General</c:formatCode>
                <c:ptCount val="2"/>
                <c:pt idx="0">
                  <c:v>12.97</c:v>
                </c:pt>
                <c:pt idx="1">
                  <c:v>10.42</c:v>
                </c:pt>
              </c:numCache>
            </c:numRef>
          </c:val>
        </c:ser>
        <c:dLbls>
          <c:numFmt formatCode="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85D"/>
                </a:solidFill>
                <a:latin typeface="Arial"/>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6350" cap="flat">
              <a:solidFill>
                <a:srgbClr val="D8E2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8685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Held-out AUC</c:v>
                </c:pt>
              </c:strCache>
            </c:strRef>
          </c:tx>
          <c:spPr>
            <a:solidFill>
              <a:srgbClr val="244336"/>
            </a:solidFill>
            <a:effectLst/>
          </c:spPr>
          <c:invertIfNegative val="0"/>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Baseline</c:v>
                  </c:pt>
                  <c:pt idx="1">
                    <c:v>+ Repertoire proximity</c:v>
                  </c:pt>
                  <c:pt idx="2">
                    <c:v>+ Exposure and network</c:v>
                  </c:pt>
                </c:lvl>
              </c:multiLvlStrCache>
            </c:multiLvlStrRef>
          </c:cat>
          <c:val>
            <c:numRef>
              <c:f>Sheet1!$B$2:$B$4</c:f>
              <c:numCache>
                <c:formatCode>General</c:formatCode>
                <c:ptCount val="3"/>
                <c:pt idx="0">
                  <c:v>0.595</c:v>
                </c:pt>
                <c:pt idx="1">
                  <c:v>0.608</c:v>
                </c:pt>
                <c:pt idx="2">
                  <c:v>0.633</c:v>
                </c:pt>
              </c:numCache>
            </c:numRef>
          </c:val>
        </c:ser>
        <c:dLbls>
          <c:numFmt formatCode="0.00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85D"/>
                </a:solidFill>
                <a:latin typeface="Arial"/>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8E2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8685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tested whether seeing an opening from an opponent predicts later use of that opening. Names and registration details can be added to this cover before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simple contagion as one exposure potentially being enough. Complex contagion predicts reinforcement from multiple structurally distinct opponents. We only observe game records, so we speak about association rather than proof of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is observational. The archive was filtered according to project configuration; do not call it representative of all Lichess chess or all players. The bundled classroom sample is for live recomputation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is an exposure trial with full 14-day follow-up. Playing a colour matters: an opening played as White and Black are distinct behaviours. One later adoption can contribute to more than one earlier trial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working UI, these stages update one after another. For a smooth live demo, run the bundled real-game sample. It executes the same analysis modules used for the full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network includes 6,881 nodes and one connected component. The communities come from the project’s network analysis. A within-community exposure share is descriptive and does not establish transmission.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reference matters. Popular openings and active players create more exposure and adoption even without reinforcement. The raw curve alone could suggest complex contagion; comparison with shuffled time changes the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ratio is observed adoption rate divided by shuffled reference rate. It declines across exposure counts. Twenty shuffles estimate a reference mean but are insufficient for a precise permutation tail probability. Avoid claiming causal diffusion.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Controls had not yet played or seen that opening at matching time. Rating and activity were calculated from earlier games. 16.16% of controls were exposed later. The comparison remains observational and susceptible to confounding.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uses popularity, rating, and activity. The test set contains 50,929 trials, with entire player-opening-colour spells held out together. Training AUC is materially higher, so acknowledge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from this slide to the browser makes the project tangible. In the console, the board has server-validated moves and looks up opening evidence in the selected run. The findings page presents the full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presentation, launch the local server and leave it on the console page. When this slide appears, Alt-Tab to the browser, select the quick demo, and click Run analysis. This is a fresh computation on real sampled games, not a playback. Wait for the verdict, then use the board and Findings page. If it takes longer on the classroom laptop, narrate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distinction between the full January analysis and the quick classroom run. A second archive month is planned but currently blocked by certificate verification on the local connection. Student details should be added to the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4336"/>
        </a:solidFill>
      </p:bgPr>
    </p:bg>
    <p:spTree>
      <p:nvGrpSpPr>
        <p:cNvPr id="1" name=""/>
        <p:cNvGrpSpPr/>
        <p:nvPr/>
      </p:nvGrpSpPr>
      <p:grpSpPr>
        <a:xfrm>
          <a:off x="0" y="0"/>
          <a:ext cx="0" cy="0"/>
          <a:chOff x="0" y="0"/>
          <a:chExt cx="0" cy="0"/>
        </a:xfrm>
      </p:grpSpPr>
      <p:pic>
        <p:nvPicPr>
          <p:cNvPr id="2" name="Image 0" descr="C:\Users\hridy\Desktop\sna\site\assets\chess-diffusion-walnut.png">    </p:cNvPr>
          <p:cNvPicPr>
            <a:picLocks noChangeAspect="1"/>
          </p:cNvPicPr>
          <p:nvPr/>
        </p:nvPicPr>
        <p:blipFill>
          <a:blip r:embed="rId1"/>
          <a:stretch>
            <a:fillRect/>
          </a:stretch>
        </p:blipFill>
        <p:spPr>
          <a:xfrm>
            <a:off x="6263640" y="0"/>
            <a:ext cx="5928055" cy="6858000"/>
          </a:xfrm>
          <a:prstGeom prst="rect">
            <a:avLst/>
          </a:prstGeom>
        </p:spPr>
      </p:pic>
      <p:sp>
        <p:nvSpPr>
          <p:cNvPr id="3" name="Text 0"/>
          <p:cNvSpPr txBox="1"/>
          <p:nvPr/>
        </p:nvSpPr>
        <p:spPr>
          <a:xfrm>
            <a:off x="594360" y="502920"/>
            <a:ext cx="5303520" cy="292608"/>
          </a:xfrm>
          <a:prstGeom prst="rect">
            <a:avLst/>
          </a:prstGeom>
          <a:noFill/>
          <a:ln/>
        </p:spPr>
        <p:txBody>
          <a:bodyPr wrap="square" lIns="0" tIns="0" rIns="0" bIns="0" rtlCol="0" anchor="ctr">
            <a:normAutofit/>
          </a:bodyPr>
          <a:lstStyle/>
          <a:p>
            <a:pPr indent="0" marL="0">
              <a:buNone/>
            </a:pPr>
            <a:r>
              <a:rPr lang="en-US" sz="1200" b="1" spc="200" kern="0" dirty="0">
                <a:solidFill>
                  <a:srgbClr val="D2E1D3"/>
                </a:solidFill>
                <a:latin typeface="Arial" pitchFamily="34" charset="0"/>
                <a:ea typeface="Arial" pitchFamily="34" charset="-122"/>
                <a:cs typeface="Arial" pitchFamily="34" charset="-120"/>
              </a:rPr>
              <a:t>CHESS / SOCIAL NETWORK ANALYSIS</a:t>
            </a:r>
            <a:endParaRPr lang="en-US" sz="1200" dirty="0"/>
          </a:p>
        </p:txBody>
      </p:sp>
      <p:sp>
        <p:nvSpPr>
          <p:cNvPr id="4" name="Text 1"/>
          <p:cNvSpPr txBox="1"/>
          <p:nvPr/>
        </p:nvSpPr>
        <p:spPr>
          <a:xfrm>
            <a:off x="594360" y="1371600"/>
            <a:ext cx="5577840" cy="2560320"/>
          </a:xfrm>
          <a:prstGeom prst="rect">
            <a:avLst/>
          </a:prstGeom>
          <a:noFill/>
          <a:ln/>
        </p:spPr>
        <p:txBody>
          <a:bodyPr wrap="square" lIns="0" tIns="0" rIns="0" bIns="0" rtlCol="0" anchor="ctr">
            <a:normAutofit/>
          </a:bodyPr>
          <a:lstStyle/>
          <a:p>
            <a:pPr indent="0" marL="0">
              <a:buNone/>
            </a:pPr>
            <a:r>
              <a:rPr lang="en-US" sz="4100" b="1" dirty="0">
                <a:solidFill>
                  <a:srgbClr val="FFFFFF"/>
                </a:solidFill>
                <a:latin typeface="Cambria" pitchFamily="34" charset="0"/>
                <a:ea typeface="Cambria" pitchFamily="34" charset="-122"/>
                <a:cs typeface="Cambria" pitchFamily="34" charset="-120"/>
              </a:rPr>
              <a:t>Can an opening</a:t>
            </a:r>
            <a:endParaRPr lang="en-US" sz="4100" dirty="0"/>
          </a:p>
          <a:p>
            <a:pPr indent="0" marL="0">
              <a:buNone/>
            </a:pPr>
            <a:r>
              <a:rPr lang="en-US" sz="4100" b="1" dirty="0">
                <a:solidFill>
                  <a:srgbClr val="FFFFFF"/>
                </a:solidFill>
                <a:latin typeface="Cambria" pitchFamily="34" charset="0"/>
                <a:ea typeface="Cambria" pitchFamily="34" charset="-122"/>
                <a:cs typeface="Cambria" pitchFamily="34" charset="-120"/>
              </a:rPr>
              <a:t>spread between</a:t>
            </a:r>
            <a:endParaRPr lang="en-US" sz="4100" dirty="0"/>
          </a:p>
          <a:p>
            <a:pPr indent="0" marL="0">
              <a:buNone/>
            </a:pPr>
            <a:r>
              <a:rPr lang="en-US" sz="4100" b="1" dirty="0">
                <a:solidFill>
                  <a:srgbClr val="FFFFFF"/>
                </a:solidFill>
                <a:latin typeface="Cambria" pitchFamily="34" charset="0"/>
                <a:ea typeface="Cambria" pitchFamily="34" charset="-122"/>
                <a:cs typeface="Cambria" pitchFamily="34" charset="-120"/>
              </a:rPr>
              <a:t>players?</a:t>
            </a:r>
            <a:endParaRPr lang="en-US" sz="4100" dirty="0"/>
          </a:p>
        </p:txBody>
      </p:sp>
      <p:sp>
        <p:nvSpPr>
          <p:cNvPr id="5" name="Text 2"/>
          <p:cNvSpPr txBox="1"/>
          <p:nvPr/>
        </p:nvSpPr>
        <p:spPr>
          <a:xfrm>
            <a:off x="621792" y="4572000"/>
            <a:ext cx="5212080" cy="822960"/>
          </a:xfrm>
          <a:prstGeom prst="rect">
            <a:avLst/>
          </a:prstGeom>
          <a:noFill/>
          <a:ln/>
        </p:spPr>
        <p:txBody>
          <a:bodyPr wrap="square" lIns="0" tIns="0" rIns="0" bIns="0" rtlCol="0" anchor="ctr">
            <a:normAutofit/>
          </a:bodyPr>
          <a:lstStyle/>
          <a:p>
            <a:pPr indent="0" marL="0">
              <a:buNone/>
            </a:pPr>
            <a:r>
              <a:rPr lang="en-US" sz="2000" dirty="0">
                <a:solidFill>
                  <a:srgbClr val="DFE9DE"/>
                </a:solidFill>
                <a:latin typeface="Arial" pitchFamily="34" charset="0"/>
                <a:ea typeface="Arial" pitchFamily="34" charset="-122"/>
                <a:cs typeface="Arial" pitchFamily="34" charset="-120"/>
              </a:rPr>
              <a:t>Evidence from Lichess games and a live analysis demo</a:t>
            </a:r>
            <a:endParaRPr lang="en-US" sz="2000" dirty="0"/>
          </a:p>
        </p:txBody>
      </p:sp>
      <p:sp>
        <p:nvSpPr>
          <p:cNvPr id="6" name="Text 3"/>
          <p:cNvSpPr txBox="1"/>
          <p:nvPr/>
        </p:nvSpPr>
        <p:spPr>
          <a:xfrm>
            <a:off x="621792" y="6144768"/>
            <a:ext cx="5029200" cy="274320"/>
          </a:xfrm>
          <a:prstGeom prst="rect">
            <a:avLst/>
          </a:prstGeom>
          <a:noFill/>
          <a:ln/>
        </p:spPr>
        <p:txBody>
          <a:bodyPr wrap="square" lIns="0" tIns="0" rIns="0" bIns="0" rtlCol="0" anchor="ctr">
            <a:normAutofit/>
          </a:bodyPr>
          <a:lstStyle/>
          <a:p>
            <a:pPr indent="0" marL="0">
              <a:buNone/>
            </a:pPr>
            <a:r>
              <a:rPr lang="en-US" sz="1300" b="1" dirty="0">
                <a:solidFill>
                  <a:srgbClr val="DFE9DE"/>
                </a:solidFill>
                <a:latin typeface="Arial" pitchFamily="34" charset="0"/>
                <a:ea typeface="Arial" pitchFamily="34" charset="-122"/>
                <a:cs typeface="Arial" pitchFamily="34" charset="-120"/>
              </a:rPr>
              <a:t>Chess Openings as Contagion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0"/>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58685D"/>
                </a:solidFill>
                <a:latin typeface="Arial" pitchFamily="34" charset="0"/>
                <a:ea typeface="Arial" pitchFamily="34" charset="-122"/>
                <a:cs typeface="Arial" pitchFamily="34" charset="-120"/>
              </a:rPr>
              <a:t>02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20241F"/>
                </a:solidFill>
                <a:latin typeface="Cambria" pitchFamily="34" charset="0"/>
                <a:ea typeface="Cambria" pitchFamily="34" charset="-122"/>
                <a:cs typeface="Cambria" pitchFamily="34" charset="-120"/>
              </a:rPr>
              <a:t>The question starts at the board</a:t>
            </a:r>
            <a:endParaRPr lang="en-US" sz="3300" dirty="0"/>
          </a:p>
        </p:txBody>
      </p:sp>
      <p:sp>
        <p:nvSpPr>
          <p:cNvPr id="4" name="Text 2"/>
          <p:cNvSpPr txBox="1"/>
          <p:nvPr/>
        </p:nvSpPr>
        <p:spPr>
          <a:xfrm>
            <a:off x="594360" y="1600200"/>
            <a:ext cx="4663440" cy="1005840"/>
          </a:xfrm>
          <a:prstGeom prst="rect">
            <a:avLst/>
          </a:prstGeom>
          <a:noFill/>
          <a:ln/>
        </p:spPr>
        <p:txBody>
          <a:bodyPr wrap="square" lIns="0" tIns="0" rIns="0" bIns="0" rtlCol="0" anchor="ctr">
            <a:normAutofit/>
          </a:bodyPr>
          <a:lstStyle/>
          <a:p>
            <a:pPr indent="0" marL="0">
              <a:buNone/>
            </a:pPr>
            <a:r>
              <a:rPr lang="en-US" sz="2700" dirty="0">
                <a:solidFill>
                  <a:srgbClr val="20241F"/>
                </a:solidFill>
                <a:latin typeface="Arial" pitchFamily="34" charset="0"/>
                <a:ea typeface="Arial" pitchFamily="34" charset="-122"/>
                <a:cs typeface="Arial" pitchFamily="34" charset="-120"/>
              </a:rPr>
              <a:t>You face the Sicilian today. Do you play it yourself later?</a:t>
            </a:r>
            <a:endParaRPr lang="en-US" sz="2700" dirty="0"/>
          </a:p>
        </p:txBody>
      </p:sp>
      <p:sp>
        <p:nvSpPr>
          <p:cNvPr id="5" name="Text 3"/>
          <p:cNvSpPr txBox="1"/>
          <p:nvPr/>
        </p:nvSpPr>
        <p:spPr>
          <a:xfrm>
            <a:off x="594360" y="2907792"/>
            <a:ext cx="4754880" cy="1417320"/>
          </a:xfrm>
          <a:prstGeom prst="rect">
            <a:avLst/>
          </a:prstGeom>
          <a:noFill/>
          <a:ln/>
        </p:spPr>
        <p:txBody>
          <a:bodyPr wrap="square" lIns="0" tIns="0" rIns="0" bIns="0" rtlCol="0" anchor="ctr">
            <a:normAutofit/>
          </a:bodyPr>
          <a:lstStyle/>
          <a:p>
            <a:pPr indent="0" marL="0">
              <a:buNone/>
            </a:pPr>
            <a:r>
              <a:rPr lang="en-US" sz="2000" dirty="0">
                <a:solidFill>
                  <a:srgbClr val="20241F"/>
                </a:solidFill>
                <a:latin typeface="Arial" pitchFamily="34" charset="0"/>
                <a:ea typeface="Arial" pitchFamily="34" charset="-122"/>
                <a:cs typeface="Arial" pitchFamily="34" charset="-120"/>
              </a:rPr>
              <a:t>One opponent may be enough. Or the opening may need to appear through several different opponents before you adopt it.</a:t>
            </a:r>
            <a:endParaRPr lang="en-US" sz="2000" dirty="0"/>
          </a:p>
        </p:txBody>
      </p:sp>
      <p:pic>
        <p:nvPicPr>
          <p:cNvPr id="6" name="Image 0" descr="C:\Users\hridy\Desktop\sna\site\assets\chess-diffusion-landscape.png">    </p:cNvPr>
          <p:cNvPicPr>
            <a:picLocks noChangeAspect="1"/>
          </p:cNvPicPr>
          <p:nvPr/>
        </p:nvPicPr>
        <p:blipFill>
          <a:blip r:embed="rId1"/>
          <a:stretch>
            <a:fillRect/>
          </a:stretch>
        </p:blipFill>
        <p:spPr>
          <a:xfrm>
            <a:off x="5806440" y="1444752"/>
            <a:ext cx="5824728" cy="48188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0"/>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58685D"/>
                </a:solidFill>
                <a:latin typeface="Arial" pitchFamily="34" charset="0"/>
                <a:ea typeface="Arial" pitchFamily="34" charset="-122"/>
                <a:cs typeface="Arial" pitchFamily="34" charset="-120"/>
              </a:rPr>
              <a:t>03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20241F"/>
                </a:solidFill>
                <a:latin typeface="Cambria" pitchFamily="34" charset="0"/>
                <a:ea typeface="Cambria" pitchFamily="34" charset="-122"/>
                <a:cs typeface="Cambria" pitchFamily="34" charset="-120"/>
              </a:rPr>
              <a:t>What went into the analysis</a:t>
            </a:r>
            <a:endParaRPr lang="en-US" sz="3300" dirty="0"/>
          </a:p>
        </p:txBody>
      </p:sp>
      <p:sp>
        <p:nvSpPr>
          <p:cNvPr id="4" name="Text 2"/>
          <p:cNvSpPr txBox="1"/>
          <p:nvPr/>
        </p:nvSpPr>
        <p:spPr>
          <a:xfrm>
            <a:off x="502920" y="6510528"/>
            <a:ext cx="11064240" cy="182880"/>
          </a:xfrm>
          <a:prstGeom prst="rect">
            <a:avLst/>
          </a:prstGeom>
          <a:noFill/>
          <a:ln/>
        </p:spPr>
        <p:txBody>
          <a:bodyPr wrap="square" lIns="0" tIns="0" rIns="0" bIns="0" rtlCol="0" anchor="ctr">
            <a:normAutofit/>
          </a:bodyPr>
          <a:lstStyle/>
          <a:p>
            <a:pPr indent="0" marL="0">
              <a:buNone/>
            </a:pPr>
            <a:r>
              <a:rPr lang="en-US" sz="900" dirty="0">
                <a:solidFill>
                  <a:srgbClr val="58685D"/>
                </a:solidFill>
                <a:latin typeface="Arial" pitchFamily="34" charset="0"/>
                <a:ea typeface="Arial" pitchFamily="34" charset="-122"/>
                <a:cs typeface="Arial" pitchFamily="34" charset="-120"/>
              </a:rPr>
              <a:t>Source: Lichess January 2016 archive, filtered project slice</a:t>
            </a:r>
            <a:endParaRPr lang="en-US" sz="900" dirty="0"/>
          </a:p>
        </p:txBody>
      </p:sp>
      <p:sp>
        <p:nvSpPr>
          <p:cNvPr id="5" name="Shape 3"/>
          <p:cNvSpPr/>
          <p:nvPr/>
        </p:nvSpPr>
        <p:spPr>
          <a:xfrm>
            <a:off x="594360" y="1572768"/>
            <a:ext cx="3520440" cy="1508760"/>
          </a:xfrm>
          <a:prstGeom prst="rect">
            <a:avLst/>
          </a:prstGeom>
          <a:solidFill>
            <a:srgbClr val="FFFFFF"/>
          </a:solidFill>
          <a:ln w="15875">
            <a:solidFill>
              <a:srgbClr val="C9D8CB"/>
            </a:solidFill>
            <a:prstDash val="solid"/>
          </a:ln>
        </p:spPr>
      </p:sp>
      <p:sp>
        <p:nvSpPr>
          <p:cNvPr id="6" name="Text 4"/>
          <p:cNvSpPr txBox="1"/>
          <p:nvPr/>
        </p:nvSpPr>
        <p:spPr>
          <a:xfrm>
            <a:off x="822960" y="1801368"/>
            <a:ext cx="3063240" cy="594360"/>
          </a:xfrm>
          <a:prstGeom prst="rect">
            <a:avLst/>
          </a:prstGeom>
          <a:noFill/>
          <a:ln/>
        </p:spPr>
        <p:txBody>
          <a:bodyPr wrap="square" lIns="0" tIns="0" rIns="0" bIns="0" rtlCol="0" anchor="ctr">
            <a:normAutofit/>
          </a:bodyPr>
          <a:lstStyle/>
          <a:p>
            <a:pPr indent="0" marL="0">
              <a:buNone/>
            </a:pPr>
            <a:r>
              <a:rPr lang="en-US" sz="3900" b="1" dirty="0">
                <a:solidFill>
                  <a:srgbClr val="244336"/>
                </a:solidFill>
                <a:latin typeface="Cambria" pitchFamily="34" charset="0"/>
                <a:ea typeface="Cambria" pitchFamily="34" charset="-122"/>
                <a:cs typeface="Cambria" pitchFamily="34" charset="-120"/>
              </a:rPr>
              <a:t>249,505</a:t>
            </a:r>
            <a:endParaRPr lang="en-US" sz="3900" dirty="0"/>
          </a:p>
        </p:txBody>
      </p:sp>
      <p:sp>
        <p:nvSpPr>
          <p:cNvPr id="7" name="Text 5"/>
          <p:cNvSpPr txBox="1"/>
          <p:nvPr/>
        </p:nvSpPr>
        <p:spPr>
          <a:xfrm>
            <a:off x="822960" y="2505456"/>
            <a:ext cx="3063240" cy="292608"/>
          </a:xfrm>
          <a:prstGeom prst="rect">
            <a:avLst/>
          </a:prstGeom>
          <a:noFill/>
          <a:ln/>
        </p:spPr>
        <p:txBody>
          <a:bodyPr wrap="square" lIns="0" tIns="0" rIns="0" bIns="0" rtlCol="0" anchor="ctr">
            <a:normAutofit/>
          </a:bodyPr>
          <a:lstStyle/>
          <a:p>
            <a:pPr indent="0" marL="0">
              <a:buNone/>
            </a:pPr>
            <a:r>
              <a:rPr lang="en-US" sz="1600" dirty="0">
                <a:solidFill>
                  <a:srgbClr val="58685D"/>
                </a:solidFill>
                <a:latin typeface="Arial" pitchFamily="34" charset="0"/>
                <a:ea typeface="Arial" pitchFamily="34" charset="-122"/>
                <a:cs typeface="Arial" pitchFamily="34" charset="-120"/>
              </a:rPr>
              <a:t>filtered games</a:t>
            </a:r>
            <a:endParaRPr lang="en-US" sz="1600" dirty="0"/>
          </a:p>
        </p:txBody>
      </p:sp>
      <p:sp>
        <p:nvSpPr>
          <p:cNvPr id="8" name="Shape 6"/>
          <p:cNvSpPr/>
          <p:nvPr/>
        </p:nvSpPr>
        <p:spPr>
          <a:xfrm>
            <a:off x="4416552" y="1572768"/>
            <a:ext cx="3520440" cy="1508760"/>
          </a:xfrm>
          <a:prstGeom prst="rect">
            <a:avLst/>
          </a:prstGeom>
          <a:solidFill>
            <a:srgbClr val="FFFFFF"/>
          </a:solidFill>
          <a:ln w="15875">
            <a:solidFill>
              <a:srgbClr val="C9D8CB"/>
            </a:solidFill>
            <a:prstDash val="solid"/>
          </a:ln>
        </p:spPr>
      </p:sp>
      <p:sp>
        <p:nvSpPr>
          <p:cNvPr id="9" name="Text 7"/>
          <p:cNvSpPr txBox="1"/>
          <p:nvPr/>
        </p:nvSpPr>
        <p:spPr>
          <a:xfrm>
            <a:off x="4645152" y="1801368"/>
            <a:ext cx="3063240" cy="594360"/>
          </a:xfrm>
          <a:prstGeom prst="rect">
            <a:avLst/>
          </a:prstGeom>
          <a:noFill/>
          <a:ln/>
        </p:spPr>
        <p:txBody>
          <a:bodyPr wrap="square" lIns="0" tIns="0" rIns="0" bIns="0" rtlCol="0" anchor="ctr">
            <a:normAutofit/>
          </a:bodyPr>
          <a:lstStyle/>
          <a:p>
            <a:pPr indent="0" marL="0">
              <a:buNone/>
            </a:pPr>
            <a:r>
              <a:rPr lang="en-US" sz="3900" b="1" dirty="0">
                <a:solidFill>
                  <a:srgbClr val="244336"/>
                </a:solidFill>
                <a:latin typeface="Cambria" pitchFamily="34" charset="0"/>
                <a:ea typeface="Cambria" pitchFamily="34" charset="-122"/>
                <a:cs typeface="Cambria" pitchFamily="34" charset="-120"/>
              </a:rPr>
              <a:t>6,881</a:t>
            </a:r>
            <a:endParaRPr lang="en-US" sz="3900" dirty="0"/>
          </a:p>
        </p:txBody>
      </p:sp>
      <p:sp>
        <p:nvSpPr>
          <p:cNvPr id="10" name="Text 8"/>
          <p:cNvSpPr txBox="1"/>
          <p:nvPr/>
        </p:nvSpPr>
        <p:spPr>
          <a:xfrm>
            <a:off x="4645152" y="2505456"/>
            <a:ext cx="3063240" cy="292608"/>
          </a:xfrm>
          <a:prstGeom prst="rect">
            <a:avLst/>
          </a:prstGeom>
          <a:noFill/>
          <a:ln/>
        </p:spPr>
        <p:txBody>
          <a:bodyPr wrap="square" lIns="0" tIns="0" rIns="0" bIns="0" rtlCol="0" anchor="ctr">
            <a:normAutofit/>
          </a:bodyPr>
          <a:lstStyle/>
          <a:p>
            <a:pPr indent="0" marL="0">
              <a:buNone/>
            </a:pPr>
            <a:r>
              <a:rPr lang="en-US" sz="1600" dirty="0">
                <a:solidFill>
                  <a:srgbClr val="58685D"/>
                </a:solidFill>
                <a:latin typeface="Arial" pitchFamily="34" charset="0"/>
                <a:ea typeface="Arial" pitchFamily="34" charset="-122"/>
                <a:cs typeface="Arial" pitchFamily="34" charset="-120"/>
              </a:rPr>
              <a:t>players</a:t>
            </a:r>
            <a:endParaRPr lang="en-US" sz="1600" dirty="0"/>
          </a:p>
        </p:txBody>
      </p:sp>
      <p:sp>
        <p:nvSpPr>
          <p:cNvPr id="11" name="Shape 9"/>
          <p:cNvSpPr/>
          <p:nvPr/>
        </p:nvSpPr>
        <p:spPr>
          <a:xfrm>
            <a:off x="8238744" y="1572768"/>
            <a:ext cx="3520440" cy="1508760"/>
          </a:xfrm>
          <a:prstGeom prst="rect">
            <a:avLst/>
          </a:prstGeom>
          <a:solidFill>
            <a:srgbClr val="FFFFFF"/>
          </a:solidFill>
          <a:ln w="15875">
            <a:solidFill>
              <a:srgbClr val="C9D8CB"/>
            </a:solidFill>
            <a:prstDash val="solid"/>
          </a:ln>
        </p:spPr>
      </p:sp>
      <p:sp>
        <p:nvSpPr>
          <p:cNvPr id="12" name="Text 10"/>
          <p:cNvSpPr txBox="1"/>
          <p:nvPr/>
        </p:nvSpPr>
        <p:spPr>
          <a:xfrm>
            <a:off x="8467344" y="1801368"/>
            <a:ext cx="3063240" cy="594360"/>
          </a:xfrm>
          <a:prstGeom prst="rect">
            <a:avLst/>
          </a:prstGeom>
          <a:noFill/>
          <a:ln/>
        </p:spPr>
        <p:txBody>
          <a:bodyPr wrap="square" lIns="0" tIns="0" rIns="0" bIns="0" rtlCol="0" anchor="ctr">
            <a:normAutofit/>
          </a:bodyPr>
          <a:lstStyle/>
          <a:p>
            <a:pPr indent="0" marL="0">
              <a:buNone/>
            </a:pPr>
            <a:r>
              <a:rPr lang="en-US" sz="3900" b="1" dirty="0">
                <a:solidFill>
                  <a:srgbClr val="244336"/>
                </a:solidFill>
                <a:latin typeface="Cambria" pitchFamily="34" charset="0"/>
                <a:ea typeface="Cambria" pitchFamily="34" charset="-122"/>
                <a:cs typeface="Cambria" pitchFamily="34" charset="-120"/>
              </a:rPr>
              <a:t>40</a:t>
            </a:r>
            <a:endParaRPr lang="en-US" sz="3900" dirty="0"/>
          </a:p>
        </p:txBody>
      </p:sp>
      <p:sp>
        <p:nvSpPr>
          <p:cNvPr id="13" name="Text 11"/>
          <p:cNvSpPr txBox="1"/>
          <p:nvPr/>
        </p:nvSpPr>
        <p:spPr>
          <a:xfrm>
            <a:off x="8467344" y="2505456"/>
            <a:ext cx="3063240" cy="292608"/>
          </a:xfrm>
          <a:prstGeom prst="rect">
            <a:avLst/>
          </a:prstGeom>
          <a:noFill/>
          <a:ln/>
        </p:spPr>
        <p:txBody>
          <a:bodyPr wrap="square" lIns="0" tIns="0" rIns="0" bIns="0" rtlCol="0" anchor="ctr">
            <a:normAutofit/>
          </a:bodyPr>
          <a:lstStyle/>
          <a:p>
            <a:pPr indent="0" marL="0">
              <a:buNone/>
            </a:pPr>
            <a:r>
              <a:rPr lang="en-US" sz="1600" dirty="0">
                <a:solidFill>
                  <a:srgbClr val="58685D"/>
                </a:solidFill>
                <a:latin typeface="Arial" pitchFamily="34" charset="0"/>
                <a:ea typeface="Arial" pitchFamily="34" charset="-122"/>
                <a:cs typeface="Arial" pitchFamily="34" charset="-120"/>
              </a:rPr>
              <a:t>ECO opening codes</a:t>
            </a:r>
            <a:endParaRPr lang="en-US" sz="1600" dirty="0"/>
          </a:p>
        </p:txBody>
      </p:sp>
      <p:sp>
        <p:nvSpPr>
          <p:cNvPr id="14" name="Shape 12"/>
          <p:cNvSpPr/>
          <p:nvPr/>
        </p:nvSpPr>
        <p:spPr>
          <a:xfrm>
            <a:off x="594360" y="3438144"/>
            <a:ext cx="5486400" cy="2523744"/>
          </a:xfrm>
          <a:prstGeom prst="rect">
            <a:avLst/>
          </a:prstGeom>
          <a:solidFill>
            <a:srgbClr val="FFFFFF"/>
          </a:solidFill>
          <a:ln w="15875">
            <a:solidFill>
              <a:srgbClr val="C9D8CB"/>
            </a:solidFill>
            <a:prstDash val="solid"/>
          </a:ln>
        </p:spPr>
      </p:sp>
      <p:sp>
        <p:nvSpPr>
          <p:cNvPr id="15" name="Shape 13"/>
          <p:cNvSpPr/>
          <p:nvPr/>
        </p:nvSpPr>
        <p:spPr>
          <a:xfrm>
            <a:off x="6245352" y="3438144"/>
            <a:ext cx="5349240" cy="2523744"/>
          </a:xfrm>
          <a:prstGeom prst="rect">
            <a:avLst/>
          </a:prstGeom>
          <a:solidFill>
            <a:srgbClr val="FFFFFF"/>
          </a:solidFill>
          <a:ln w="15875">
            <a:solidFill>
              <a:srgbClr val="C9D8CB"/>
            </a:solidFill>
            <a:prstDash val="solid"/>
          </a:ln>
        </p:spPr>
      </p:sp>
      <p:sp>
        <p:nvSpPr>
          <p:cNvPr id="16" name="Text 14"/>
          <p:cNvSpPr txBox="1"/>
          <p:nvPr/>
        </p:nvSpPr>
        <p:spPr>
          <a:xfrm>
            <a:off x="868680" y="3703320"/>
            <a:ext cx="4297680" cy="274320"/>
          </a:xfrm>
          <a:prstGeom prst="rect">
            <a:avLst/>
          </a:prstGeom>
          <a:noFill/>
          <a:ln/>
        </p:spPr>
        <p:txBody>
          <a:bodyPr wrap="square" lIns="0" tIns="0" rIns="0" bIns="0" rtlCol="0" anchor="ctr">
            <a:normAutofit/>
          </a:bodyPr>
          <a:lstStyle/>
          <a:p>
            <a:pPr indent="0" marL="0">
              <a:buNone/>
            </a:pPr>
            <a:r>
              <a:rPr lang="en-US" sz="1400" b="1" spc="100" kern="0" dirty="0">
                <a:solidFill>
                  <a:srgbClr val="244336"/>
                </a:solidFill>
                <a:latin typeface="Arial" pitchFamily="34" charset="0"/>
                <a:ea typeface="Arial" pitchFamily="34" charset="-122"/>
                <a:cs typeface="Arial" pitchFamily="34" charset="-120"/>
              </a:rPr>
              <a:t>SELECTION RULES</a:t>
            </a:r>
            <a:endParaRPr lang="en-US" sz="1400" dirty="0"/>
          </a:p>
        </p:txBody>
      </p:sp>
      <p:sp>
        <p:nvSpPr>
          <p:cNvPr id="17" name="Text 15"/>
          <p:cNvSpPr txBox="1"/>
          <p:nvPr/>
        </p:nvSpPr>
        <p:spPr>
          <a:xfrm>
            <a:off x="868680" y="4169664"/>
            <a:ext cx="4937760" cy="1243584"/>
          </a:xfrm>
          <a:prstGeom prst="rect">
            <a:avLst/>
          </a:prstGeom>
          <a:noFill/>
          <a:ln/>
        </p:spPr>
        <p:txBody>
          <a:bodyPr wrap="square" lIns="0" tIns="0" rIns="0" bIns="0" rtlCol="0" anchor="ctr">
            <a:normAutofit/>
          </a:bodyPr>
          <a:lstStyle/>
          <a:p>
            <a:pPr indent="0" marL="0">
              <a:buNone/>
            </a:pPr>
            <a:r>
              <a:rPr lang="en-US" sz="2000" dirty="0">
                <a:solidFill>
                  <a:srgbClr val="20241F"/>
                </a:solidFill>
                <a:latin typeface="Arial" pitchFamily="34" charset="0"/>
                <a:ea typeface="Arial" pitchFamily="34" charset="-122"/>
                <a:cs typeface="Arial" pitchFamily="34" charset="-120"/>
              </a:rPr>
              <a:t>Rated games, 1800–2200 Elo, eligible speeds, common ECO codes, and players with enough activity to study.</a:t>
            </a:r>
            <a:endParaRPr lang="en-US" sz="2000" dirty="0"/>
          </a:p>
        </p:txBody>
      </p:sp>
      <p:sp>
        <p:nvSpPr>
          <p:cNvPr id="18" name="Text 16"/>
          <p:cNvSpPr txBox="1"/>
          <p:nvPr/>
        </p:nvSpPr>
        <p:spPr>
          <a:xfrm>
            <a:off x="6519672" y="3703320"/>
            <a:ext cx="4572000" cy="274320"/>
          </a:xfrm>
          <a:prstGeom prst="rect">
            <a:avLst/>
          </a:prstGeom>
          <a:noFill/>
          <a:ln/>
        </p:spPr>
        <p:txBody>
          <a:bodyPr wrap="square" lIns="0" tIns="0" rIns="0" bIns="0" rtlCol="0" anchor="ctr">
            <a:normAutofit/>
          </a:bodyPr>
          <a:lstStyle/>
          <a:p>
            <a:pPr indent="0" marL="0">
              <a:buNone/>
            </a:pPr>
            <a:r>
              <a:rPr lang="en-US" sz="1400" b="1" spc="100" kern="0" dirty="0">
                <a:solidFill>
                  <a:srgbClr val="244336"/>
                </a:solidFill>
                <a:latin typeface="Arial" pitchFamily="34" charset="0"/>
                <a:ea typeface="Arial" pitchFamily="34" charset="-122"/>
                <a:cs typeface="Arial" pitchFamily="34" charset="-120"/>
              </a:rPr>
              <a:t>FULL STUDY + LIVE DEMO</a:t>
            </a:r>
            <a:endParaRPr lang="en-US" sz="1400" dirty="0"/>
          </a:p>
        </p:txBody>
      </p:sp>
      <p:sp>
        <p:nvSpPr>
          <p:cNvPr id="19" name="Text 17"/>
          <p:cNvSpPr txBox="1"/>
          <p:nvPr/>
        </p:nvSpPr>
        <p:spPr>
          <a:xfrm>
            <a:off x="6519672" y="4169664"/>
            <a:ext cx="4754880" cy="1307592"/>
          </a:xfrm>
          <a:prstGeom prst="rect">
            <a:avLst/>
          </a:prstGeom>
          <a:noFill/>
          <a:ln/>
        </p:spPr>
        <p:txBody>
          <a:bodyPr wrap="square" lIns="0" tIns="0" rIns="0" bIns="0" rtlCol="0" anchor="ctr">
            <a:normAutofit/>
          </a:bodyPr>
          <a:lstStyle/>
          <a:p>
            <a:pPr indent="0" marL="0">
              <a:buNone/>
            </a:pPr>
            <a:r>
              <a:rPr lang="en-US" sz="1900" dirty="0">
                <a:solidFill>
                  <a:srgbClr val="20241F"/>
                </a:solidFill>
                <a:latin typeface="Arial" pitchFamily="34" charset="0"/>
                <a:ea typeface="Arial" pitchFamily="34" charset="-122"/>
                <a:cs typeface="Arial" pitchFamily="34" charset="-120"/>
              </a:rPr>
              <a:t>The findings use all 249,505 filtered games. The classroom demo recomputes a fixed 60,000-game sample from the same slice.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0"/>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58685D"/>
                </a:solidFill>
                <a:latin typeface="Arial" pitchFamily="34" charset="0"/>
                <a:ea typeface="Arial" pitchFamily="34" charset="-122"/>
                <a:cs typeface="Arial" pitchFamily="34" charset="-120"/>
              </a:rPr>
              <a:t>04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20241F"/>
                </a:solidFill>
                <a:latin typeface="Cambria" pitchFamily="34" charset="0"/>
                <a:ea typeface="Cambria" pitchFamily="34" charset="-122"/>
                <a:cs typeface="Cambria" pitchFamily="34" charset="-120"/>
              </a:rPr>
              <a:t>How an exposure becomes a trial</a:t>
            </a:r>
            <a:endParaRPr lang="en-US" sz="3300" dirty="0"/>
          </a:p>
        </p:txBody>
      </p:sp>
      <p:sp>
        <p:nvSpPr>
          <p:cNvPr id="4" name="Text 2"/>
          <p:cNvSpPr txBox="1"/>
          <p:nvPr/>
        </p:nvSpPr>
        <p:spPr>
          <a:xfrm>
            <a:off x="640080" y="1426464"/>
            <a:ext cx="10789920" cy="429768"/>
          </a:xfrm>
          <a:prstGeom prst="rect">
            <a:avLst/>
          </a:prstGeom>
          <a:noFill/>
          <a:ln/>
        </p:spPr>
        <p:txBody>
          <a:bodyPr wrap="square" lIns="0" tIns="0" rIns="0" bIns="0" rtlCol="0" anchor="ctr">
            <a:normAutofit/>
          </a:bodyPr>
          <a:lstStyle/>
          <a:p>
            <a:pPr indent="0" marL="0">
              <a:buNone/>
            </a:pPr>
            <a:r>
              <a:rPr lang="en-US" sz="1800" dirty="0">
                <a:solidFill>
                  <a:srgbClr val="58685D"/>
                </a:solidFill>
                <a:latin typeface="Arial" pitchFamily="34" charset="0"/>
                <a:ea typeface="Arial" pitchFamily="34" charset="-122"/>
                <a:cs typeface="Arial" pitchFamily="34" charset="-120"/>
              </a:rPr>
              <a:t>We follow a specific behaviour: an opening played with the same colour.</a:t>
            </a:r>
            <a:endParaRPr lang="en-US" sz="1800" dirty="0"/>
          </a:p>
        </p:txBody>
      </p:sp>
      <p:sp>
        <p:nvSpPr>
          <p:cNvPr id="5" name="Shape 3"/>
          <p:cNvSpPr/>
          <p:nvPr/>
        </p:nvSpPr>
        <p:spPr>
          <a:xfrm>
            <a:off x="621792" y="2029968"/>
            <a:ext cx="10954512" cy="969264"/>
          </a:xfrm>
          <a:prstGeom prst="rect">
            <a:avLst/>
          </a:prstGeom>
          <a:solidFill>
            <a:srgbClr val="FFFFFF"/>
          </a:solidFill>
          <a:ln w="15875">
            <a:solidFill>
              <a:srgbClr val="C9D8CB"/>
            </a:solidFill>
            <a:prstDash val="solid"/>
          </a:ln>
        </p:spPr>
      </p:sp>
      <p:sp>
        <p:nvSpPr>
          <p:cNvPr id="6" name="Text 4"/>
          <p:cNvSpPr txBox="1"/>
          <p:nvPr/>
        </p:nvSpPr>
        <p:spPr>
          <a:xfrm>
            <a:off x="859536" y="2276856"/>
            <a:ext cx="566928" cy="438912"/>
          </a:xfrm>
          <a:prstGeom prst="rect">
            <a:avLst/>
          </a:prstGeom>
          <a:noFill/>
          <a:ln/>
        </p:spPr>
        <p:txBody>
          <a:bodyPr wrap="square" lIns="0" tIns="0" rIns="0" bIns="0" rtlCol="0" anchor="ctr">
            <a:normAutofit/>
          </a:bodyPr>
          <a:lstStyle/>
          <a:p>
            <a:pPr indent="0" marL="0">
              <a:buNone/>
            </a:pPr>
            <a:r>
              <a:rPr lang="en-US" sz="2500" b="1" dirty="0">
                <a:solidFill>
                  <a:srgbClr val="D3A64A"/>
                </a:solidFill>
                <a:latin typeface="Cambria" pitchFamily="34" charset="0"/>
                <a:ea typeface="Cambria" pitchFamily="34" charset="-122"/>
                <a:cs typeface="Cambria" pitchFamily="34" charset="-120"/>
              </a:rPr>
              <a:t>01</a:t>
            </a:r>
            <a:endParaRPr lang="en-US" sz="2500" dirty="0"/>
          </a:p>
        </p:txBody>
      </p:sp>
      <p:sp>
        <p:nvSpPr>
          <p:cNvPr id="7" name="Text 5"/>
          <p:cNvSpPr txBox="1"/>
          <p:nvPr/>
        </p:nvSpPr>
        <p:spPr>
          <a:xfrm>
            <a:off x="1600200" y="2286000"/>
            <a:ext cx="1993392" cy="365760"/>
          </a:xfrm>
          <a:prstGeom prst="rect">
            <a:avLst/>
          </a:prstGeom>
          <a:noFill/>
          <a:ln/>
        </p:spPr>
        <p:txBody>
          <a:bodyPr wrap="square" lIns="0" tIns="0" rIns="0" bIns="0" rtlCol="0" anchor="ctr">
            <a:normAutofit/>
          </a:bodyPr>
          <a:lstStyle/>
          <a:p>
            <a:pPr indent="0" marL="0">
              <a:buNone/>
            </a:pPr>
            <a:r>
              <a:rPr lang="en-US" sz="2100" b="1" dirty="0">
                <a:solidFill>
                  <a:srgbClr val="244336"/>
                </a:solidFill>
                <a:latin typeface="Arial" pitchFamily="34" charset="0"/>
                <a:ea typeface="Arial" pitchFamily="34" charset="-122"/>
                <a:cs typeface="Arial" pitchFamily="34" charset="-120"/>
              </a:rPr>
              <a:t>Encounter</a:t>
            </a:r>
            <a:endParaRPr lang="en-US" sz="2100" dirty="0"/>
          </a:p>
        </p:txBody>
      </p:sp>
      <p:sp>
        <p:nvSpPr>
          <p:cNvPr id="8" name="Text 6"/>
          <p:cNvSpPr txBox="1"/>
          <p:nvPr/>
        </p:nvSpPr>
        <p:spPr>
          <a:xfrm>
            <a:off x="3767328" y="2240280"/>
            <a:ext cx="7360920" cy="502920"/>
          </a:xfrm>
          <a:prstGeom prst="rect">
            <a:avLst/>
          </a:prstGeom>
          <a:noFill/>
          <a:ln/>
        </p:spPr>
        <p:txBody>
          <a:bodyPr wrap="square" lIns="0" tIns="0" rIns="0" bIns="0" rtlCol="0" anchor="ctr">
            <a:normAutofit/>
          </a:bodyPr>
          <a:lstStyle/>
          <a:p>
            <a:pPr indent="0" marL="0">
              <a:buNone/>
            </a:pPr>
            <a:r>
              <a:rPr lang="en-US" sz="1800" dirty="0">
                <a:solidFill>
                  <a:srgbClr val="20241F"/>
                </a:solidFill>
                <a:latin typeface="Arial" pitchFamily="34" charset="0"/>
                <a:ea typeface="Arial" pitchFamily="34" charset="-122"/>
                <a:cs typeface="Arial" pitchFamily="34" charset="-120"/>
              </a:rPr>
              <a:t>An opponent plays that opening against the player.</a:t>
            </a:r>
            <a:endParaRPr lang="en-US" sz="1800" dirty="0"/>
          </a:p>
        </p:txBody>
      </p:sp>
      <p:sp>
        <p:nvSpPr>
          <p:cNvPr id="9" name="Shape 7"/>
          <p:cNvSpPr/>
          <p:nvPr/>
        </p:nvSpPr>
        <p:spPr>
          <a:xfrm>
            <a:off x="621792" y="3209544"/>
            <a:ext cx="10954512" cy="969264"/>
          </a:xfrm>
          <a:prstGeom prst="rect">
            <a:avLst/>
          </a:prstGeom>
          <a:solidFill>
            <a:srgbClr val="FFFFFF"/>
          </a:solidFill>
          <a:ln w="15875">
            <a:solidFill>
              <a:srgbClr val="C9D8CB"/>
            </a:solidFill>
            <a:prstDash val="solid"/>
          </a:ln>
        </p:spPr>
      </p:sp>
      <p:sp>
        <p:nvSpPr>
          <p:cNvPr id="10" name="Text 8"/>
          <p:cNvSpPr txBox="1"/>
          <p:nvPr/>
        </p:nvSpPr>
        <p:spPr>
          <a:xfrm>
            <a:off x="859536" y="3456432"/>
            <a:ext cx="566928" cy="438912"/>
          </a:xfrm>
          <a:prstGeom prst="rect">
            <a:avLst/>
          </a:prstGeom>
          <a:noFill/>
          <a:ln/>
        </p:spPr>
        <p:txBody>
          <a:bodyPr wrap="square" lIns="0" tIns="0" rIns="0" bIns="0" rtlCol="0" anchor="ctr">
            <a:normAutofit/>
          </a:bodyPr>
          <a:lstStyle/>
          <a:p>
            <a:pPr indent="0" marL="0">
              <a:buNone/>
            </a:pPr>
            <a:r>
              <a:rPr lang="en-US" sz="2500" b="1" dirty="0">
                <a:solidFill>
                  <a:srgbClr val="D3A64A"/>
                </a:solidFill>
                <a:latin typeface="Cambria" pitchFamily="34" charset="0"/>
                <a:ea typeface="Cambria" pitchFamily="34" charset="-122"/>
                <a:cs typeface="Cambria" pitchFamily="34" charset="-120"/>
              </a:rPr>
              <a:t>02</a:t>
            </a:r>
            <a:endParaRPr lang="en-US" sz="2500" dirty="0"/>
          </a:p>
        </p:txBody>
      </p:sp>
      <p:sp>
        <p:nvSpPr>
          <p:cNvPr id="11" name="Text 9"/>
          <p:cNvSpPr txBox="1"/>
          <p:nvPr/>
        </p:nvSpPr>
        <p:spPr>
          <a:xfrm>
            <a:off x="1600200" y="3465576"/>
            <a:ext cx="1993392" cy="365760"/>
          </a:xfrm>
          <a:prstGeom prst="rect">
            <a:avLst/>
          </a:prstGeom>
          <a:noFill/>
          <a:ln/>
        </p:spPr>
        <p:txBody>
          <a:bodyPr wrap="square" lIns="0" tIns="0" rIns="0" bIns="0" rtlCol="0" anchor="ctr">
            <a:normAutofit/>
          </a:bodyPr>
          <a:lstStyle/>
          <a:p>
            <a:pPr indent="0" marL="0">
              <a:buNone/>
            </a:pPr>
            <a:r>
              <a:rPr lang="en-US" sz="2100" b="1" dirty="0">
                <a:solidFill>
                  <a:srgbClr val="244336"/>
                </a:solidFill>
                <a:latin typeface="Arial" pitchFamily="34" charset="0"/>
                <a:ea typeface="Arial" pitchFamily="34" charset="-122"/>
                <a:cs typeface="Arial" pitchFamily="34" charset="-120"/>
              </a:rPr>
              <a:t>Follow-up</a:t>
            </a:r>
            <a:endParaRPr lang="en-US" sz="2100" dirty="0"/>
          </a:p>
        </p:txBody>
      </p:sp>
      <p:sp>
        <p:nvSpPr>
          <p:cNvPr id="12" name="Text 10"/>
          <p:cNvSpPr txBox="1"/>
          <p:nvPr/>
        </p:nvSpPr>
        <p:spPr>
          <a:xfrm>
            <a:off x="3767328" y="3419856"/>
            <a:ext cx="7360920" cy="502920"/>
          </a:xfrm>
          <a:prstGeom prst="rect">
            <a:avLst/>
          </a:prstGeom>
          <a:noFill/>
          <a:ln/>
        </p:spPr>
        <p:txBody>
          <a:bodyPr wrap="square" lIns="0" tIns="0" rIns="0" bIns="0" rtlCol="0" anchor="ctr">
            <a:normAutofit/>
          </a:bodyPr>
          <a:lstStyle/>
          <a:p>
            <a:pPr indent="0" marL="0">
              <a:buNone/>
            </a:pPr>
            <a:r>
              <a:rPr lang="en-US" sz="1800" dirty="0">
                <a:solidFill>
                  <a:srgbClr val="20241F"/>
                </a:solidFill>
                <a:latin typeface="Arial" pitchFamily="34" charset="0"/>
                <a:ea typeface="Arial" pitchFamily="34" charset="-122"/>
                <a:cs typeface="Arial" pitchFamily="34" charset="-120"/>
              </a:rPr>
              <a:t>We observe the player’s next 14 days of games.</a:t>
            </a:r>
            <a:endParaRPr lang="en-US" sz="1800" dirty="0"/>
          </a:p>
        </p:txBody>
      </p:sp>
      <p:sp>
        <p:nvSpPr>
          <p:cNvPr id="13" name="Shape 11"/>
          <p:cNvSpPr/>
          <p:nvPr/>
        </p:nvSpPr>
        <p:spPr>
          <a:xfrm>
            <a:off x="621792" y="4389120"/>
            <a:ext cx="10954512" cy="969264"/>
          </a:xfrm>
          <a:prstGeom prst="rect">
            <a:avLst/>
          </a:prstGeom>
          <a:solidFill>
            <a:srgbClr val="FFFFFF"/>
          </a:solidFill>
          <a:ln w="15875">
            <a:solidFill>
              <a:srgbClr val="C9D8CB"/>
            </a:solidFill>
            <a:prstDash val="solid"/>
          </a:ln>
        </p:spPr>
      </p:sp>
      <p:sp>
        <p:nvSpPr>
          <p:cNvPr id="14" name="Text 12"/>
          <p:cNvSpPr txBox="1"/>
          <p:nvPr/>
        </p:nvSpPr>
        <p:spPr>
          <a:xfrm>
            <a:off x="859536" y="4636008"/>
            <a:ext cx="566928" cy="438912"/>
          </a:xfrm>
          <a:prstGeom prst="rect">
            <a:avLst/>
          </a:prstGeom>
          <a:noFill/>
          <a:ln/>
        </p:spPr>
        <p:txBody>
          <a:bodyPr wrap="square" lIns="0" tIns="0" rIns="0" bIns="0" rtlCol="0" anchor="ctr">
            <a:normAutofit/>
          </a:bodyPr>
          <a:lstStyle/>
          <a:p>
            <a:pPr indent="0" marL="0">
              <a:buNone/>
            </a:pPr>
            <a:r>
              <a:rPr lang="en-US" sz="2500" b="1" dirty="0">
                <a:solidFill>
                  <a:srgbClr val="D3A64A"/>
                </a:solidFill>
                <a:latin typeface="Cambria" pitchFamily="34" charset="0"/>
                <a:ea typeface="Cambria" pitchFamily="34" charset="-122"/>
                <a:cs typeface="Cambria" pitchFamily="34" charset="-120"/>
              </a:rPr>
              <a:t>03</a:t>
            </a:r>
            <a:endParaRPr lang="en-US" sz="2500" dirty="0"/>
          </a:p>
        </p:txBody>
      </p:sp>
      <p:sp>
        <p:nvSpPr>
          <p:cNvPr id="15" name="Text 13"/>
          <p:cNvSpPr txBox="1"/>
          <p:nvPr/>
        </p:nvSpPr>
        <p:spPr>
          <a:xfrm>
            <a:off x="1600200" y="4645152"/>
            <a:ext cx="1993392" cy="365760"/>
          </a:xfrm>
          <a:prstGeom prst="rect">
            <a:avLst/>
          </a:prstGeom>
          <a:noFill/>
          <a:ln/>
        </p:spPr>
        <p:txBody>
          <a:bodyPr wrap="square" lIns="0" tIns="0" rIns="0" bIns="0" rtlCol="0" anchor="ctr">
            <a:normAutofit/>
          </a:bodyPr>
          <a:lstStyle/>
          <a:p>
            <a:pPr indent="0" marL="0">
              <a:buNone/>
            </a:pPr>
            <a:r>
              <a:rPr lang="en-US" sz="2100" b="1" dirty="0">
                <a:solidFill>
                  <a:srgbClr val="244336"/>
                </a:solidFill>
                <a:latin typeface="Arial" pitchFamily="34" charset="0"/>
                <a:ea typeface="Arial" pitchFamily="34" charset="-122"/>
                <a:cs typeface="Arial" pitchFamily="34" charset="-120"/>
              </a:rPr>
              <a:t>Outcome</a:t>
            </a:r>
            <a:endParaRPr lang="en-US" sz="2100" dirty="0"/>
          </a:p>
        </p:txBody>
      </p:sp>
      <p:sp>
        <p:nvSpPr>
          <p:cNvPr id="16" name="Text 14"/>
          <p:cNvSpPr txBox="1"/>
          <p:nvPr/>
        </p:nvSpPr>
        <p:spPr>
          <a:xfrm>
            <a:off x="3767328" y="4599432"/>
            <a:ext cx="7360920" cy="502920"/>
          </a:xfrm>
          <a:prstGeom prst="rect">
            <a:avLst/>
          </a:prstGeom>
          <a:noFill/>
          <a:ln/>
        </p:spPr>
        <p:txBody>
          <a:bodyPr wrap="square" lIns="0" tIns="0" rIns="0" bIns="0" rtlCol="0" anchor="ctr">
            <a:normAutofit/>
          </a:bodyPr>
          <a:lstStyle/>
          <a:p>
            <a:pPr indent="0" marL="0">
              <a:buNone/>
            </a:pPr>
            <a:r>
              <a:rPr lang="en-US" sz="1800" dirty="0">
                <a:solidFill>
                  <a:srgbClr val="20241F"/>
                </a:solidFill>
                <a:latin typeface="Arial" pitchFamily="34" charset="0"/>
                <a:ea typeface="Arial" pitchFamily="34" charset="-122"/>
                <a:cs typeface="Arial" pitchFamily="34" charset="-120"/>
              </a:rPr>
              <a:t>Adoption means the player later plays that opening and colour.</a:t>
            </a:r>
            <a:endParaRPr lang="en-US" sz="1800" dirty="0"/>
          </a:p>
        </p:txBody>
      </p:sp>
      <p:sp>
        <p:nvSpPr>
          <p:cNvPr id="17" name="Shape 15"/>
          <p:cNvSpPr/>
          <p:nvPr/>
        </p:nvSpPr>
        <p:spPr>
          <a:xfrm>
            <a:off x="621792" y="5733288"/>
            <a:ext cx="10954512" cy="530352"/>
          </a:xfrm>
          <a:prstGeom prst="rect">
            <a:avLst/>
          </a:prstGeom>
          <a:solidFill>
            <a:srgbClr val="FFFFFF"/>
          </a:solidFill>
          <a:ln w="15875">
            <a:solidFill>
              <a:srgbClr val="C9D8CB"/>
            </a:solidFill>
            <a:prstDash val="solid"/>
          </a:ln>
        </p:spPr>
      </p:sp>
      <p:sp>
        <p:nvSpPr>
          <p:cNvPr id="18" name="Text 16"/>
          <p:cNvSpPr txBox="1"/>
          <p:nvPr/>
        </p:nvSpPr>
        <p:spPr>
          <a:xfrm>
            <a:off x="859536" y="5870448"/>
            <a:ext cx="10469880" cy="265176"/>
          </a:xfrm>
          <a:prstGeom prst="rect">
            <a:avLst/>
          </a:prstGeom>
          <a:noFill/>
          <a:ln/>
        </p:spPr>
        <p:txBody>
          <a:bodyPr wrap="square" lIns="0" tIns="0" rIns="0" bIns="0" rtlCol="0" anchor="ctr">
            <a:normAutofit/>
          </a:bodyPr>
          <a:lstStyle/>
          <a:p>
            <a:pPr indent="0" marL="0">
              <a:buNone/>
            </a:pPr>
            <a:r>
              <a:rPr lang="en-US" sz="1500" dirty="0">
                <a:solidFill>
                  <a:srgbClr val="244336"/>
                </a:solidFill>
                <a:latin typeface="Arial" pitchFamily="34" charset="0"/>
                <a:ea typeface="Arial" pitchFamily="34" charset="-122"/>
                <a:cs typeface="Arial" pitchFamily="34" charset="-120"/>
              </a:rPr>
              <a:t>Reported rates include only trials with a complete 14-day observation window.</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44336"/>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D8E3D6"/>
                </a:solidFill>
                <a:latin typeface="Arial" pitchFamily="34" charset="0"/>
                <a:ea typeface="Arial" pitchFamily="34" charset="-122"/>
                <a:cs typeface="Arial" pitchFamily="34" charset="-120"/>
              </a:rPr>
              <a:t>05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FFFFFF"/>
                </a:solidFill>
                <a:latin typeface="Cambria" pitchFamily="34" charset="0"/>
                <a:ea typeface="Cambria" pitchFamily="34" charset="-122"/>
                <a:cs typeface="Cambria" pitchFamily="34" charset="-120"/>
              </a:rPr>
              <a:t>From games to a testable curve</a:t>
            </a:r>
            <a:endParaRPr lang="en-US" sz="3300" dirty="0"/>
          </a:p>
        </p:txBody>
      </p:sp>
      <p:sp>
        <p:nvSpPr>
          <p:cNvPr id="4" name="Shape 2"/>
          <p:cNvSpPr/>
          <p:nvPr/>
        </p:nvSpPr>
        <p:spPr>
          <a:xfrm>
            <a:off x="576072" y="1627632"/>
            <a:ext cx="2743200" cy="3026664"/>
          </a:xfrm>
          <a:prstGeom prst="rect">
            <a:avLst/>
          </a:prstGeom>
          <a:solidFill>
            <a:srgbClr val="315542"/>
          </a:solidFill>
          <a:ln w="15875">
            <a:solidFill>
              <a:srgbClr val="779580"/>
            </a:solidFill>
            <a:prstDash val="solid"/>
          </a:ln>
        </p:spPr>
      </p:sp>
      <p:sp>
        <p:nvSpPr>
          <p:cNvPr id="5" name="Text 3"/>
          <p:cNvSpPr txBox="1"/>
          <p:nvPr/>
        </p:nvSpPr>
        <p:spPr>
          <a:xfrm>
            <a:off x="804672" y="1901952"/>
            <a:ext cx="2286000" cy="384048"/>
          </a:xfrm>
          <a:prstGeom prst="rect">
            <a:avLst/>
          </a:prstGeom>
          <a:noFill/>
          <a:ln/>
        </p:spPr>
        <p:txBody>
          <a:bodyPr wrap="square" lIns="0" tIns="0" rIns="0" bIns="0" rtlCol="0" anchor="ctr">
            <a:normAutofit/>
          </a:bodyPr>
          <a:lstStyle/>
          <a:p>
            <a:pPr indent="0" marL="0">
              <a:buNone/>
            </a:pPr>
            <a:r>
              <a:rPr lang="en-US" sz="2300" b="1" dirty="0">
                <a:solidFill>
                  <a:srgbClr val="D3A64A"/>
                </a:solidFill>
                <a:latin typeface="Cambria" pitchFamily="34" charset="0"/>
                <a:ea typeface="Cambria" pitchFamily="34" charset="-122"/>
                <a:cs typeface="Cambria" pitchFamily="34" charset="-120"/>
              </a:rPr>
              <a:t>01</a:t>
            </a:r>
            <a:endParaRPr lang="en-US" sz="2300" dirty="0"/>
          </a:p>
        </p:txBody>
      </p:sp>
      <p:sp>
        <p:nvSpPr>
          <p:cNvPr id="6" name="Text 4"/>
          <p:cNvSpPr txBox="1"/>
          <p:nvPr/>
        </p:nvSpPr>
        <p:spPr>
          <a:xfrm>
            <a:off x="804672" y="2450592"/>
            <a:ext cx="2286000" cy="45720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Cambria" pitchFamily="34" charset="0"/>
                <a:ea typeface="Cambria" pitchFamily="34" charset="-122"/>
                <a:cs typeface="Cambria" pitchFamily="34" charset="-120"/>
              </a:rPr>
              <a:t>Games</a:t>
            </a:r>
            <a:endParaRPr lang="en-US" sz="2600" dirty="0"/>
          </a:p>
        </p:txBody>
      </p:sp>
      <p:sp>
        <p:nvSpPr>
          <p:cNvPr id="7" name="Text 5"/>
          <p:cNvSpPr txBox="1"/>
          <p:nvPr/>
        </p:nvSpPr>
        <p:spPr>
          <a:xfrm>
            <a:off x="804672" y="3154680"/>
            <a:ext cx="2286000" cy="1152144"/>
          </a:xfrm>
          <a:prstGeom prst="rect">
            <a:avLst/>
          </a:prstGeom>
          <a:noFill/>
          <a:ln/>
        </p:spPr>
        <p:txBody>
          <a:bodyPr wrap="square" lIns="0" tIns="0" rIns="0" bIns="0" rtlCol="0" anchor="ctr">
            <a:normAutofit/>
          </a:bodyPr>
          <a:lstStyle/>
          <a:p>
            <a:pPr indent="0" marL="0">
              <a:buNone/>
            </a:pPr>
            <a:r>
              <a:rPr lang="en-US" sz="1700" dirty="0">
                <a:solidFill>
                  <a:srgbClr val="E0EAE0"/>
                </a:solidFill>
                <a:latin typeface="Arial" pitchFamily="34" charset="0"/>
                <a:ea typeface="Arial" pitchFamily="34" charset="-122"/>
                <a:cs typeface="Arial" pitchFamily="34" charset="-120"/>
              </a:rPr>
              <a:t>Read PGN moves, player IDs and timestamps.</a:t>
            </a:r>
            <a:endParaRPr lang="en-US" sz="1700" dirty="0"/>
          </a:p>
        </p:txBody>
      </p:sp>
      <p:sp>
        <p:nvSpPr>
          <p:cNvPr id="8" name="Shape 6"/>
          <p:cNvSpPr/>
          <p:nvPr/>
        </p:nvSpPr>
        <p:spPr>
          <a:xfrm>
            <a:off x="3474720" y="1627632"/>
            <a:ext cx="2743200" cy="3026664"/>
          </a:xfrm>
          <a:prstGeom prst="rect">
            <a:avLst/>
          </a:prstGeom>
          <a:solidFill>
            <a:srgbClr val="315542"/>
          </a:solidFill>
          <a:ln w="15875">
            <a:solidFill>
              <a:srgbClr val="779580"/>
            </a:solidFill>
            <a:prstDash val="solid"/>
          </a:ln>
        </p:spPr>
      </p:sp>
      <p:sp>
        <p:nvSpPr>
          <p:cNvPr id="9" name="Text 7"/>
          <p:cNvSpPr txBox="1"/>
          <p:nvPr/>
        </p:nvSpPr>
        <p:spPr>
          <a:xfrm>
            <a:off x="3703320" y="1901952"/>
            <a:ext cx="2286000" cy="384048"/>
          </a:xfrm>
          <a:prstGeom prst="rect">
            <a:avLst/>
          </a:prstGeom>
          <a:noFill/>
          <a:ln/>
        </p:spPr>
        <p:txBody>
          <a:bodyPr wrap="square" lIns="0" tIns="0" rIns="0" bIns="0" rtlCol="0" anchor="ctr">
            <a:normAutofit/>
          </a:bodyPr>
          <a:lstStyle/>
          <a:p>
            <a:pPr indent="0" marL="0">
              <a:buNone/>
            </a:pPr>
            <a:r>
              <a:rPr lang="en-US" sz="2300" b="1" dirty="0">
                <a:solidFill>
                  <a:srgbClr val="D3A64A"/>
                </a:solidFill>
                <a:latin typeface="Cambria" pitchFamily="34" charset="0"/>
                <a:ea typeface="Cambria" pitchFamily="34" charset="-122"/>
                <a:cs typeface="Cambria" pitchFamily="34" charset="-120"/>
              </a:rPr>
              <a:t>02</a:t>
            </a:r>
            <a:endParaRPr lang="en-US" sz="2300" dirty="0"/>
          </a:p>
        </p:txBody>
      </p:sp>
      <p:sp>
        <p:nvSpPr>
          <p:cNvPr id="10" name="Text 8"/>
          <p:cNvSpPr txBox="1"/>
          <p:nvPr/>
        </p:nvSpPr>
        <p:spPr>
          <a:xfrm>
            <a:off x="3703320" y="2450592"/>
            <a:ext cx="2286000" cy="45720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Cambria" pitchFamily="34" charset="0"/>
                <a:ea typeface="Cambria" pitchFamily="34" charset="-122"/>
                <a:cs typeface="Cambria" pitchFamily="34" charset="-120"/>
              </a:rPr>
              <a:t>Trials</a:t>
            </a:r>
            <a:endParaRPr lang="en-US" sz="2600" dirty="0"/>
          </a:p>
        </p:txBody>
      </p:sp>
      <p:sp>
        <p:nvSpPr>
          <p:cNvPr id="11" name="Text 9"/>
          <p:cNvSpPr txBox="1"/>
          <p:nvPr/>
        </p:nvSpPr>
        <p:spPr>
          <a:xfrm>
            <a:off x="3703320" y="3154680"/>
            <a:ext cx="2286000" cy="1152144"/>
          </a:xfrm>
          <a:prstGeom prst="rect">
            <a:avLst/>
          </a:prstGeom>
          <a:noFill/>
          <a:ln/>
        </p:spPr>
        <p:txBody>
          <a:bodyPr wrap="square" lIns="0" tIns="0" rIns="0" bIns="0" rtlCol="0" anchor="ctr">
            <a:normAutofit/>
          </a:bodyPr>
          <a:lstStyle/>
          <a:p>
            <a:pPr indent="0" marL="0">
              <a:buNone/>
            </a:pPr>
            <a:r>
              <a:rPr lang="en-US" sz="1700" dirty="0">
                <a:solidFill>
                  <a:srgbClr val="E0EAE0"/>
                </a:solidFill>
                <a:latin typeface="Arial" pitchFamily="34" charset="0"/>
                <a:ea typeface="Arial" pitchFamily="34" charset="-122"/>
                <a:cs typeface="Arial" pitchFamily="34" charset="-120"/>
              </a:rPr>
              <a:t>Build exposure and 14-day adoption windows.</a:t>
            </a:r>
            <a:endParaRPr lang="en-US" sz="1700" dirty="0"/>
          </a:p>
        </p:txBody>
      </p:sp>
      <p:sp>
        <p:nvSpPr>
          <p:cNvPr id="12" name="Shape 10"/>
          <p:cNvSpPr/>
          <p:nvPr/>
        </p:nvSpPr>
        <p:spPr>
          <a:xfrm>
            <a:off x="6373368" y="1627632"/>
            <a:ext cx="2743200" cy="3026664"/>
          </a:xfrm>
          <a:prstGeom prst="rect">
            <a:avLst/>
          </a:prstGeom>
          <a:solidFill>
            <a:srgbClr val="315542"/>
          </a:solidFill>
          <a:ln w="15875">
            <a:solidFill>
              <a:srgbClr val="779580"/>
            </a:solidFill>
            <a:prstDash val="solid"/>
          </a:ln>
        </p:spPr>
      </p:sp>
      <p:sp>
        <p:nvSpPr>
          <p:cNvPr id="13" name="Text 11"/>
          <p:cNvSpPr txBox="1"/>
          <p:nvPr/>
        </p:nvSpPr>
        <p:spPr>
          <a:xfrm>
            <a:off x="6601968" y="1901952"/>
            <a:ext cx="2286000" cy="384048"/>
          </a:xfrm>
          <a:prstGeom prst="rect">
            <a:avLst/>
          </a:prstGeom>
          <a:noFill/>
          <a:ln/>
        </p:spPr>
        <p:txBody>
          <a:bodyPr wrap="square" lIns="0" tIns="0" rIns="0" bIns="0" rtlCol="0" anchor="ctr">
            <a:normAutofit/>
          </a:bodyPr>
          <a:lstStyle/>
          <a:p>
            <a:pPr indent="0" marL="0">
              <a:buNone/>
            </a:pPr>
            <a:r>
              <a:rPr lang="en-US" sz="2300" b="1" dirty="0">
                <a:solidFill>
                  <a:srgbClr val="D3A64A"/>
                </a:solidFill>
                <a:latin typeface="Cambria" pitchFamily="34" charset="0"/>
                <a:ea typeface="Cambria" pitchFamily="34" charset="-122"/>
                <a:cs typeface="Cambria" pitchFamily="34" charset="-120"/>
              </a:rPr>
              <a:t>03</a:t>
            </a:r>
            <a:endParaRPr lang="en-US" sz="2300" dirty="0"/>
          </a:p>
        </p:txBody>
      </p:sp>
      <p:sp>
        <p:nvSpPr>
          <p:cNvPr id="14" name="Text 12"/>
          <p:cNvSpPr txBox="1"/>
          <p:nvPr/>
        </p:nvSpPr>
        <p:spPr>
          <a:xfrm>
            <a:off x="6601968" y="2450592"/>
            <a:ext cx="2286000" cy="45720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Cambria" pitchFamily="34" charset="0"/>
                <a:ea typeface="Cambria" pitchFamily="34" charset="-122"/>
                <a:cs typeface="Cambria" pitchFamily="34" charset="-120"/>
              </a:rPr>
              <a:t>Network</a:t>
            </a:r>
            <a:endParaRPr lang="en-US" sz="2600" dirty="0"/>
          </a:p>
        </p:txBody>
      </p:sp>
      <p:sp>
        <p:nvSpPr>
          <p:cNvPr id="15" name="Text 13"/>
          <p:cNvSpPr txBox="1"/>
          <p:nvPr/>
        </p:nvSpPr>
        <p:spPr>
          <a:xfrm>
            <a:off x="6601968" y="3154680"/>
            <a:ext cx="2286000" cy="1152144"/>
          </a:xfrm>
          <a:prstGeom prst="rect">
            <a:avLst/>
          </a:prstGeom>
          <a:noFill/>
          <a:ln/>
        </p:spPr>
        <p:txBody>
          <a:bodyPr wrap="square" lIns="0" tIns="0" rIns="0" bIns="0" rtlCol="0" anchor="ctr">
            <a:normAutofit/>
          </a:bodyPr>
          <a:lstStyle/>
          <a:p>
            <a:pPr indent="0" marL="0">
              <a:buNone/>
            </a:pPr>
            <a:r>
              <a:rPr lang="en-US" sz="1700" dirty="0">
                <a:solidFill>
                  <a:srgbClr val="E0EAE0"/>
                </a:solidFill>
                <a:latin typeface="Arial" pitchFamily="34" charset="0"/>
                <a:ea typeface="Arial" pitchFamily="34" charset="-122"/>
                <a:cs typeface="Arial" pitchFamily="34" charset="-120"/>
              </a:rPr>
              <a:t>Link opponents and detect communities.</a:t>
            </a:r>
            <a:endParaRPr lang="en-US" sz="1700" dirty="0"/>
          </a:p>
        </p:txBody>
      </p:sp>
      <p:sp>
        <p:nvSpPr>
          <p:cNvPr id="16" name="Shape 14"/>
          <p:cNvSpPr/>
          <p:nvPr/>
        </p:nvSpPr>
        <p:spPr>
          <a:xfrm>
            <a:off x="9272016" y="1627632"/>
            <a:ext cx="2743200" cy="3026664"/>
          </a:xfrm>
          <a:prstGeom prst="rect">
            <a:avLst/>
          </a:prstGeom>
          <a:solidFill>
            <a:srgbClr val="315542"/>
          </a:solidFill>
          <a:ln w="15875">
            <a:solidFill>
              <a:srgbClr val="779580"/>
            </a:solidFill>
            <a:prstDash val="solid"/>
          </a:ln>
        </p:spPr>
      </p:sp>
      <p:sp>
        <p:nvSpPr>
          <p:cNvPr id="17" name="Text 15"/>
          <p:cNvSpPr txBox="1"/>
          <p:nvPr/>
        </p:nvSpPr>
        <p:spPr>
          <a:xfrm>
            <a:off x="9500616" y="1901952"/>
            <a:ext cx="2286000" cy="384048"/>
          </a:xfrm>
          <a:prstGeom prst="rect">
            <a:avLst/>
          </a:prstGeom>
          <a:noFill/>
          <a:ln/>
        </p:spPr>
        <p:txBody>
          <a:bodyPr wrap="square" lIns="0" tIns="0" rIns="0" bIns="0" rtlCol="0" anchor="ctr">
            <a:normAutofit/>
          </a:bodyPr>
          <a:lstStyle/>
          <a:p>
            <a:pPr indent="0" marL="0">
              <a:buNone/>
            </a:pPr>
            <a:r>
              <a:rPr lang="en-US" sz="2300" b="1" dirty="0">
                <a:solidFill>
                  <a:srgbClr val="D3A64A"/>
                </a:solidFill>
                <a:latin typeface="Cambria" pitchFamily="34" charset="0"/>
                <a:ea typeface="Cambria" pitchFamily="34" charset="-122"/>
                <a:cs typeface="Cambria" pitchFamily="34" charset="-120"/>
              </a:rPr>
              <a:t>04</a:t>
            </a:r>
            <a:endParaRPr lang="en-US" sz="2300" dirty="0"/>
          </a:p>
        </p:txBody>
      </p:sp>
      <p:sp>
        <p:nvSpPr>
          <p:cNvPr id="18" name="Text 16"/>
          <p:cNvSpPr txBox="1"/>
          <p:nvPr/>
        </p:nvSpPr>
        <p:spPr>
          <a:xfrm>
            <a:off x="9500616" y="2450592"/>
            <a:ext cx="2286000" cy="457200"/>
          </a:xfrm>
          <a:prstGeom prst="rect">
            <a:avLst/>
          </a:prstGeom>
          <a:noFill/>
          <a:ln/>
        </p:spPr>
        <p:txBody>
          <a:bodyPr wrap="square" lIns="0" tIns="0" rIns="0" bIns="0" rtlCol="0" anchor="ctr">
            <a:normAutofit/>
          </a:bodyPr>
          <a:lstStyle/>
          <a:p>
            <a:pPr indent="0" marL="0">
              <a:buNone/>
            </a:pPr>
            <a:r>
              <a:rPr lang="en-US" sz="2600" b="1" dirty="0">
                <a:solidFill>
                  <a:srgbClr val="FFFFFF"/>
                </a:solidFill>
                <a:latin typeface="Cambria" pitchFamily="34" charset="0"/>
                <a:ea typeface="Cambria" pitchFamily="34" charset="-122"/>
                <a:cs typeface="Cambria" pitchFamily="34" charset="-120"/>
              </a:rPr>
              <a:t>Checks</a:t>
            </a:r>
            <a:endParaRPr lang="en-US" sz="2600" dirty="0"/>
          </a:p>
        </p:txBody>
      </p:sp>
      <p:sp>
        <p:nvSpPr>
          <p:cNvPr id="19" name="Text 17"/>
          <p:cNvSpPr txBox="1"/>
          <p:nvPr/>
        </p:nvSpPr>
        <p:spPr>
          <a:xfrm>
            <a:off x="9500616" y="3154680"/>
            <a:ext cx="2286000" cy="1152144"/>
          </a:xfrm>
          <a:prstGeom prst="rect">
            <a:avLst/>
          </a:prstGeom>
          <a:noFill/>
          <a:ln/>
        </p:spPr>
        <p:txBody>
          <a:bodyPr wrap="square" lIns="0" tIns="0" rIns="0" bIns="0" rtlCol="0" anchor="ctr">
            <a:normAutofit/>
          </a:bodyPr>
          <a:lstStyle/>
          <a:p>
            <a:pPr indent="0" marL="0">
              <a:buNone/>
            </a:pPr>
            <a:r>
              <a:rPr lang="en-US" sz="1700" dirty="0">
                <a:solidFill>
                  <a:srgbClr val="E0EAE0"/>
                </a:solidFill>
                <a:latin typeface="Arial" pitchFamily="34" charset="0"/>
                <a:ea typeface="Arial" pitchFamily="34" charset="-122"/>
                <a:cs typeface="Arial" pitchFamily="34" charset="-120"/>
              </a:rPr>
              <a:t>Compare shuffled time and matched peers.</a:t>
            </a:r>
            <a:endParaRPr lang="en-US" sz="1700" dirty="0"/>
          </a:p>
        </p:txBody>
      </p:sp>
      <p:sp>
        <p:nvSpPr>
          <p:cNvPr id="20" name="Shape 18"/>
          <p:cNvSpPr/>
          <p:nvPr/>
        </p:nvSpPr>
        <p:spPr>
          <a:xfrm>
            <a:off x="576072" y="5001768"/>
            <a:ext cx="11457432" cy="1042416"/>
          </a:xfrm>
          <a:prstGeom prst="rect">
            <a:avLst/>
          </a:prstGeom>
          <a:solidFill>
            <a:srgbClr val="315542"/>
          </a:solidFill>
          <a:ln w="15875">
            <a:solidFill>
              <a:srgbClr val="779580"/>
            </a:solidFill>
            <a:prstDash val="solid"/>
          </a:ln>
        </p:spPr>
      </p:sp>
      <p:sp>
        <p:nvSpPr>
          <p:cNvPr id="21" name="Text 19"/>
          <p:cNvSpPr txBox="1"/>
          <p:nvPr/>
        </p:nvSpPr>
        <p:spPr>
          <a:xfrm>
            <a:off x="832104" y="5230368"/>
            <a:ext cx="1417320" cy="292608"/>
          </a:xfrm>
          <a:prstGeom prst="rect">
            <a:avLst/>
          </a:prstGeom>
          <a:noFill/>
          <a:ln/>
        </p:spPr>
        <p:txBody>
          <a:bodyPr wrap="square" lIns="0" tIns="0" rIns="0" bIns="0" rtlCol="0" anchor="ctr">
            <a:normAutofit/>
          </a:bodyPr>
          <a:lstStyle/>
          <a:p>
            <a:pPr indent="0" marL="0">
              <a:buNone/>
            </a:pPr>
            <a:r>
              <a:rPr lang="en-US" sz="1400" b="1" spc="100" kern="0" dirty="0">
                <a:solidFill>
                  <a:srgbClr val="D3A64A"/>
                </a:solidFill>
                <a:latin typeface="Arial" pitchFamily="34" charset="0"/>
                <a:ea typeface="Arial" pitchFamily="34" charset="-122"/>
                <a:cs typeface="Arial" pitchFamily="34" charset="-120"/>
              </a:rPr>
              <a:t>OUTPUT</a:t>
            </a:r>
            <a:endParaRPr lang="en-US" sz="1400" dirty="0"/>
          </a:p>
        </p:txBody>
      </p:sp>
      <p:sp>
        <p:nvSpPr>
          <p:cNvPr id="22" name="Text 20"/>
          <p:cNvSpPr txBox="1"/>
          <p:nvPr/>
        </p:nvSpPr>
        <p:spPr>
          <a:xfrm>
            <a:off x="2286000" y="5202936"/>
            <a:ext cx="9418320" cy="566928"/>
          </a:xfrm>
          <a:prstGeom prst="rect">
            <a:avLst/>
          </a:prstGeom>
          <a:noFill/>
          <a:ln/>
        </p:spPr>
        <p:txBody>
          <a:bodyPr wrap="square" lIns="0" tIns="0" rIns="0" bIns="0" rtlCol="0" anchor="ctr">
            <a:normAutofit/>
          </a:bodyPr>
          <a:lstStyle/>
          <a:p>
            <a:pPr indent="0" marL="0">
              <a:buNone/>
            </a:pPr>
            <a:r>
              <a:rPr lang="en-US" sz="1800" dirty="0">
                <a:solidFill>
                  <a:srgbClr val="FFFFFF"/>
                </a:solidFill>
                <a:latin typeface="Arial" pitchFamily="34" charset="0"/>
                <a:ea typeface="Arial" pitchFamily="34" charset="-122"/>
                <a:cs typeface="Arial" pitchFamily="34" charset="-120"/>
              </a:rPr>
              <a:t>Observed curve • shuffled reference • matched comparison • held-out prediction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0"/>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58685D"/>
                </a:solidFill>
                <a:latin typeface="Arial" pitchFamily="34" charset="0"/>
                <a:ea typeface="Arial" pitchFamily="34" charset="-122"/>
                <a:cs typeface="Arial" pitchFamily="34" charset="-120"/>
              </a:rPr>
              <a:t>06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20241F"/>
                </a:solidFill>
                <a:latin typeface="Cambria" pitchFamily="34" charset="0"/>
                <a:ea typeface="Cambria" pitchFamily="34" charset="-122"/>
                <a:cs typeface="Cambria" pitchFamily="34" charset="-120"/>
              </a:rPr>
              <a:t>The player network is large and connected</a:t>
            </a:r>
            <a:endParaRPr lang="en-US" sz="3300" dirty="0"/>
          </a:p>
        </p:txBody>
      </p:sp>
      <p:sp>
        <p:nvSpPr>
          <p:cNvPr id="4" name="Text 2"/>
          <p:cNvSpPr txBox="1"/>
          <p:nvPr/>
        </p:nvSpPr>
        <p:spPr>
          <a:xfrm>
            <a:off x="502920" y="6510528"/>
            <a:ext cx="11064240" cy="182880"/>
          </a:xfrm>
          <a:prstGeom prst="rect">
            <a:avLst/>
          </a:prstGeom>
          <a:noFill/>
          <a:ln/>
        </p:spPr>
        <p:txBody>
          <a:bodyPr wrap="square" lIns="0" tIns="0" rIns="0" bIns="0" rtlCol="0" anchor="ctr">
            <a:normAutofit/>
          </a:bodyPr>
          <a:lstStyle/>
          <a:p>
            <a:pPr indent="0" marL="0">
              <a:buNone/>
            </a:pPr>
            <a:r>
              <a:rPr lang="en-US" sz="900" dirty="0">
                <a:solidFill>
                  <a:srgbClr val="58685D"/>
                </a:solidFill>
                <a:latin typeface="Arial" pitchFamily="34" charset="0"/>
                <a:ea typeface="Arial" pitchFamily="34" charset="-122"/>
                <a:cs typeface="Arial" pitchFamily="34" charset="-120"/>
              </a:rPr>
              <a:t>Source: results/report.json, January 2016 full slice</a:t>
            </a:r>
            <a:endParaRPr lang="en-US" sz="900" dirty="0"/>
          </a:p>
        </p:txBody>
      </p:sp>
      <p:sp>
        <p:nvSpPr>
          <p:cNvPr id="5" name="Shape 3"/>
          <p:cNvSpPr/>
          <p:nvPr/>
        </p:nvSpPr>
        <p:spPr>
          <a:xfrm>
            <a:off x="566928" y="1463040"/>
            <a:ext cx="6601968" cy="4718304"/>
          </a:xfrm>
          <a:prstGeom prst="rect">
            <a:avLst/>
          </a:prstGeom>
          <a:solidFill>
            <a:srgbClr val="FFFFFF"/>
          </a:solidFill>
          <a:ln w="15875">
            <a:solidFill>
              <a:srgbClr val="C9D8CB"/>
            </a:solidFill>
            <a:prstDash val="solid"/>
          </a:ln>
        </p:spPr>
      </p:sp>
      <p:pic>
        <p:nvPicPr>
          <p:cNvPr id="6" name="Image 0" descr="C:\Users\hridy\Desktop\sna\docs\player_network_preview.png">    </p:cNvPr>
          <p:cNvPicPr>
            <a:picLocks noChangeAspect="1"/>
          </p:cNvPicPr>
          <p:nvPr/>
        </p:nvPicPr>
        <p:blipFill>
          <a:blip r:embed="rId1"/>
          <a:stretch>
            <a:fillRect/>
          </a:stretch>
        </p:blipFill>
        <p:spPr>
          <a:xfrm>
            <a:off x="685800" y="1581912"/>
            <a:ext cx="6364224" cy="3968496"/>
          </a:xfrm>
          <a:prstGeom prst="rect">
            <a:avLst/>
          </a:prstGeom>
        </p:spPr>
      </p:pic>
      <p:sp>
        <p:nvSpPr>
          <p:cNvPr id="7" name="Text 4"/>
          <p:cNvSpPr txBox="1"/>
          <p:nvPr/>
        </p:nvSpPr>
        <p:spPr>
          <a:xfrm>
            <a:off x="804672" y="5669280"/>
            <a:ext cx="6217920" cy="393192"/>
          </a:xfrm>
          <a:prstGeom prst="rect">
            <a:avLst/>
          </a:prstGeom>
          <a:noFill/>
          <a:ln/>
        </p:spPr>
        <p:txBody>
          <a:bodyPr wrap="square" lIns="0" tIns="0" rIns="0" bIns="0" rtlCol="0" anchor="ctr">
            <a:normAutofit/>
          </a:bodyPr>
          <a:lstStyle/>
          <a:p>
            <a:pPr indent="0" marL="0">
              <a:buNone/>
            </a:pPr>
            <a:r>
              <a:rPr lang="en-US" sz="1200" dirty="0">
                <a:solidFill>
                  <a:srgbClr val="58685D"/>
                </a:solidFill>
                <a:latin typeface="Arial" pitchFamily="34" charset="0"/>
                <a:ea typeface="Arial" pitchFamily="34" charset="-122"/>
                <a:cs typeface="Arial" pitchFamily="34" charset="-120"/>
              </a:rPr>
              <a:t>High-degree player preview; node colour shows community and lines show games.</a:t>
            </a:r>
            <a:endParaRPr lang="en-US" sz="1200" dirty="0"/>
          </a:p>
        </p:txBody>
      </p:sp>
      <p:sp>
        <p:nvSpPr>
          <p:cNvPr id="8" name="Shape 5"/>
          <p:cNvSpPr/>
          <p:nvPr/>
        </p:nvSpPr>
        <p:spPr>
          <a:xfrm>
            <a:off x="7351776" y="1463040"/>
            <a:ext cx="4279392" cy="4718304"/>
          </a:xfrm>
          <a:prstGeom prst="rect">
            <a:avLst/>
          </a:prstGeom>
          <a:solidFill>
            <a:srgbClr val="FFFFFF"/>
          </a:solidFill>
          <a:ln w="15875">
            <a:solidFill>
              <a:srgbClr val="C9D8CB"/>
            </a:solidFill>
            <a:prstDash val="solid"/>
          </a:ln>
        </p:spPr>
      </p:sp>
      <p:sp>
        <p:nvSpPr>
          <p:cNvPr id="9" name="Text 6"/>
          <p:cNvSpPr txBox="1"/>
          <p:nvPr/>
        </p:nvSpPr>
        <p:spPr>
          <a:xfrm>
            <a:off x="7626096" y="1764792"/>
            <a:ext cx="3611880" cy="603504"/>
          </a:xfrm>
          <a:prstGeom prst="rect">
            <a:avLst/>
          </a:prstGeom>
          <a:noFill/>
          <a:ln/>
        </p:spPr>
        <p:txBody>
          <a:bodyPr wrap="square" lIns="0" tIns="0" rIns="0" bIns="0" rtlCol="0" anchor="ctr">
            <a:normAutofit/>
          </a:bodyPr>
          <a:lstStyle/>
          <a:p>
            <a:pPr indent="0" marL="0">
              <a:buNone/>
            </a:pPr>
            <a:r>
              <a:rPr lang="en-US" sz="3600" b="1" dirty="0">
                <a:solidFill>
                  <a:srgbClr val="244336"/>
                </a:solidFill>
                <a:latin typeface="Cambria" pitchFamily="34" charset="0"/>
                <a:ea typeface="Cambria" pitchFamily="34" charset="-122"/>
                <a:cs typeface="Cambria" pitchFamily="34" charset="-120"/>
              </a:rPr>
              <a:t>173,944</a:t>
            </a:r>
            <a:endParaRPr lang="en-US" sz="3600" dirty="0"/>
          </a:p>
        </p:txBody>
      </p:sp>
      <p:sp>
        <p:nvSpPr>
          <p:cNvPr id="10" name="Text 7"/>
          <p:cNvSpPr txBox="1"/>
          <p:nvPr/>
        </p:nvSpPr>
        <p:spPr>
          <a:xfrm>
            <a:off x="7626096" y="2432304"/>
            <a:ext cx="3611880" cy="384048"/>
          </a:xfrm>
          <a:prstGeom prst="rect">
            <a:avLst/>
          </a:prstGeom>
          <a:noFill/>
          <a:ln/>
        </p:spPr>
        <p:txBody>
          <a:bodyPr wrap="square" lIns="0" tIns="0" rIns="0" bIns="0" rtlCol="0" anchor="ctr">
            <a:normAutofit/>
          </a:bodyPr>
          <a:lstStyle/>
          <a:p>
            <a:pPr indent="0" marL="0">
              <a:buNone/>
            </a:pPr>
            <a:r>
              <a:rPr lang="en-US" sz="1600" dirty="0">
                <a:solidFill>
                  <a:srgbClr val="58685D"/>
                </a:solidFill>
                <a:latin typeface="Arial" pitchFamily="34" charset="0"/>
                <a:ea typeface="Arial" pitchFamily="34" charset="-122"/>
                <a:cs typeface="Arial" pitchFamily="34" charset="-120"/>
              </a:rPr>
              <a:t>distinct opponent links</a:t>
            </a:r>
            <a:endParaRPr lang="en-US" sz="1600" dirty="0"/>
          </a:p>
        </p:txBody>
      </p:sp>
      <p:sp>
        <p:nvSpPr>
          <p:cNvPr id="11" name="Text 8"/>
          <p:cNvSpPr txBox="1"/>
          <p:nvPr/>
        </p:nvSpPr>
        <p:spPr>
          <a:xfrm>
            <a:off x="7626096" y="2971800"/>
            <a:ext cx="3611880" cy="585216"/>
          </a:xfrm>
          <a:prstGeom prst="rect">
            <a:avLst/>
          </a:prstGeom>
          <a:noFill/>
          <a:ln/>
        </p:spPr>
        <p:txBody>
          <a:bodyPr wrap="square" lIns="0" tIns="0" rIns="0" bIns="0" rtlCol="0" anchor="ctr">
            <a:normAutofit/>
          </a:bodyPr>
          <a:lstStyle/>
          <a:p>
            <a:pPr indent="0" marL="0">
              <a:buNone/>
            </a:pPr>
            <a:r>
              <a:rPr lang="en-US" sz="3600" b="1" dirty="0">
                <a:solidFill>
                  <a:srgbClr val="244336"/>
                </a:solidFill>
                <a:latin typeface="Cambria" pitchFamily="34" charset="0"/>
                <a:ea typeface="Cambria" pitchFamily="34" charset="-122"/>
                <a:cs typeface="Cambria" pitchFamily="34" charset="-120"/>
              </a:rPr>
              <a:t>5</a:t>
            </a:r>
            <a:endParaRPr lang="en-US" sz="3600" dirty="0"/>
          </a:p>
        </p:txBody>
      </p:sp>
      <p:sp>
        <p:nvSpPr>
          <p:cNvPr id="12" name="Text 9"/>
          <p:cNvSpPr txBox="1"/>
          <p:nvPr/>
        </p:nvSpPr>
        <p:spPr>
          <a:xfrm>
            <a:off x="7626096" y="3593592"/>
            <a:ext cx="3611880" cy="384048"/>
          </a:xfrm>
          <a:prstGeom prst="rect">
            <a:avLst/>
          </a:prstGeom>
          <a:noFill/>
          <a:ln/>
        </p:spPr>
        <p:txBody>
          <a:bodyPr wrap="square" lIns="0" tIns="0" rIns="0" bIns="0" rtlCol="0" anchor="ctr">
            <a:normAutofit/>
          </a:bodyPr>
          <a:lstStyle/>
          <a:p>
            <a:pPr indent="0" marL="0">
              <a:buNone/>
            </a:pPr>
            <a:r>
              <a:rPr lang="en-US" sz="1600" dirty="0">
                <a:solidFill>
                  <a:srgbClr val="58685D"/>
                </a:solidFill>
                <a:latin typeface="Arial" pitchFamily="34" charset="0"/>
                <a:ea typeface="Arial" pitchFamily="34" charset="-122"/>
                <a:cs typeface="Arial" pitchFamily="34" charset="-120"/>
              </a:rPr>
              <a:t>detected communities</a:t>
            </a:r>
            <a:endParaRPr lang="en-US" sz="1600" dirty="0"/>
          </a:p>
        </p:txBody>
      </p:sp>
      <p:sp>
        <p:nvSpPr>
          <p:cNvPr id="13" name="Text 10"/>
          <p:cNvSpPr txBox="1"/>
          <p:nvPr/>
        </p:nvSpPr>
        <p:spPr>
          <a:xfrm>
            <a:off x="7626096" y="4096512"/>
            <a:ext cx="3611880" cy="621792"/>
          </a:xfrm>
          <a:prstGeom prst="rect">
            <a:avLst/>
          </a:prstGeom>
          <a:noFill/>
          <a:ln/>
        </p:spPr>
        <p:txBody>
          <a:bodyPr wrap="square" lIns="0" tIns="0" rIns="0" bIns="0" rtlCol="0" anchor="ctr">
            <a:normAutofit/>
          </a:bodyPr>
          <a:lstStyle/>
          <a:p>
            <a:pPr indent="0" marL="0">
              <a:buNone/>
            </a:pPr>
            <a:r>
              <a:rPr lang="en-US" sz="3600" b="1" dirty="0">
                <a:solidFill>
                  <a:srgbClr val="244336"/>
                </a:solidFill>
                <a:latin typeface="Cambria" pitchFamily="34" charset="0"/>
                <a:ea typeface="Cambria" pitchFamily="34" charset="-122"/>
                <a:cs typeface="Cambria" pitchFamily="34" charset="-120"/>
              </a:rPr>
              <a:t>72%</a:t>
            </a:r>
            <a:endParaRPr lang="en-US" sz="3600" dirty="0"/>
          </a:p>
        </p:txBody>
      </p:sp>
      <p:sp>
        <p:nvSpPr>
          <p:cNvPr id="14" name="Text 11"/>
          <p:cNvSpPr txBox="1"/>
          <p:nvPr/>
        </p:nvSpPr>
        <p:spPr>
          <a:xfrm>
            <a:off x="7626096" y="4791456"/>
            <a:ext cx="3611880" cy="868680"/>
          </a:xfrm>
          <a:prstGeom prst="rect">
            <a:avLst/>
          </a:prstGeom>
          <a:noFill/>
          <a:ln/>
        </p:spPr>
        <p:txBody>
          <a:bodyPr wrap="square" lIns="0" tIns="0" rIns="0" bIns="0" rtlCol="0" anchor="ctr">
            <a:normAutofit/>
          </a:bodyPr>
          <a:lstStyle/>
          <a:p>
            <a:pPr indent="0" marL="0">
              <a:buNone/>
            </a:pPr>
            <a:r>
              <a:rPr lang="en-US" sz="1600" dirty="0">
                <a:solidFill>
                  <a:srgbClr val="58685D"/>
                </a:solidFill>
                <a:latin typeface="Arial" pitchFamily="34" charset="0"/>
                <a:ea typeface="Arial" pitchFamily="34" charset="-122"/>
                <a:cs typeface="Arial" pitchFamily="34" charset="-120"/>
              </a:rPr>
              <a:t>of recorded pre-adoption exposures stayed within a community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0"/>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58685D"/>
                </a:solidFill>
                <a:latin typeface="Arial" pitchFamily="34" charset="0"/>
                <a:ea typeface="Arial" pitchFamily="34" charset="-122"/>
                <a:cs typeface="Arial" pitchFamily="34" charset="-120"/>
              </a:rPr>
              <a:t>07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20241F"/>
                </a:solidFill>
                <a:latin typeface="Cambria" pitchFamily="34" charset="0"/>
                <a:ea typeface="Cambria" pitchFamily="34" charset="-122"/>
                <a:cs typeface="Cambria" pitchFamily="34" charset="-120"/>
              </a:rPr>
              <a:t>The raw rate rises at higher exposure counts</a:t>
            </a:r>
            <a:endParaRPr lang="en-US" sz="3300" dirty="0"/>
          </a:p>
        </p:txBody>
      </p:sp>
      <p:sp>
        <p:nvSpPr>
          <p:cNvPr id="4" name="Text 2"/>
          <p:cNvSpPr txBox="1"/>
          <p:nvPr/>
        </p:nvSpPr>
        <p:spPr>
          <a:xfrm>
            <a:off x="502920" y="6510528"/>
            <a:ext cx="11064240" cy="182880"/>
          </a:xfrm>
          <a:prstGeom prst="rect">
            <a:avLst/>
          </a:prstGeom>
          <a:noFill/>
          <a:ln/>
        </p:spPr>
        <p:txBody>
          <a:bodyPr wrap="square" lIns="0" tIns="0" rIns="0" bIns="0" rtlCol="0" anchor="ctr">
            <a:normAutofit/>
          </a:bodyPr>
          <a:lstStyle/>
          <a:p>
            <a:pPr indent="0" marL="0">
              <a:buNone/>
            </a:pPr>
            <a:r>
              <a:rPr lang="en-US" sz="900" dirty="0">
                <a:solidFill>
                  <a:srgbClr val="58685D"/>
                </a:solidFill>
                <a:latin typeface="Arial" pitchFamily="34" charset="0"/>
                <a:ea typeface="Arial" pitchFamily="34" charset="-122"/>
                <a:cs typeface="Arial" pitchFamily="34" charset="-120"/>
              </a:rPr>
              <a:t>Source: results/tables/null_comparison.csv; complete 14-day trials</a:t>
            </a:r>
            <a:endParaRPr lang="en-US" sz="900" dirty="0"/>
          </a:p>
        </p:txBody>
      </p:sp>
      <p:graphicFrame>
        <p:nvGraphicFramePr>
          <p:cNvPr id="5" name="Chart 0" descr=""/>
          <p:cNvGraphicFramePr/>
          <p:nvPr/>
        </p:nvGraphicFramePr>
        <p:xfrm>
          <a:off x="548640" y="1600200"/>
          <a:ext cx="7589520" cy="4389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394192" y="2057400"/>
            <a:ext cx="3108960" cy="1188720"/>
          </a:xfrm>
          <a:prstGeom prst="rect">
            <a:avLst/>
          </a:prstGeom>
          <a:noFill/>
          <a:ln/>
        </p:spPr>
        <p:txBody>
          <a:bodyPr wrap="square" lIns="0" tIns="0" rIns="0" bIns="0" rtlCol="0" anchor="ctr">
            <a:normAutofit/>
          </a:bodyPr>
          <a:lstStyle/>
          <a:p>
            <a:pPr indent="0" marL="0">
              <a:buNone/>
            </a:pPr>
            <a:r>
              <a:rPr lang="en-US" sz="2200" dirty="0">
                <a:solidFill>
                  <a:srgbClr val="244336"/>
                </a:solidFill>
                <a:latin typeface="Arial" pitchFamily="34" charset="0"/>
                <a:ea typeface="Arial" pitchFamily="34" charset="-122"/>
                <a:cs typeface="Arial" pitchFamily="34" charset="-120"/>
              </a:rPr>
              <a:t>Raw adoption reaches 16.0% after six or more distinct opponents.</a:t>
            </a:r>
            <a:endParaRPr lang="en-US" sz="2200" dirty="0"/>
          </a:p>
        </p:txBody>
      </p:sp>
      <p:sp>
        <p:nvSpPr>
          <p:cNvPr id="7" name="Text 4"/>
          <p:cNvSpPr txBox="1"/>
          <p:nvPr/>
        </p:nvSpPr>
        <p:spPr>
          <a:xfrm>
            <a:off x="8394192" y="3657600"/>
            <a:ext cx="3108960" cy="1188720"/>
          </a:xfrm>
          <a:prstGeom prst="rect">
            <a:avLst/>
          </a:prstGeom>
          <a:noFill/>
          <a:ln/>
        </p:spPr>
        <p:txBody>
          <a:bodyPr wrap="square" lIns="0" tIns="0" rIns="0" bIns="0" rtlCol="0" anchor="ctr">
            <a:normAutofit/>
          </a:bodyPr>
          <a:lstStyle/>
          <a:p>
            <a:pPr indent="0" marL="0">
              <a:buNone/>
            </a:pPr>
            <a:r>
              <a:rPr lang="en-US" sz="2000" dirty="0">
                <a:solidFill>
                  <a:srgbClr val="58685D"/>
                </a:solidFill>
                <a:latin typeface="Arial" pitchFamily="34" charset="0"/>
                <a:ea typeface="Arial" pitchFamily="34" charset="-122"/>
                <a:cs typeface="Arial" pitchFamily="34" charset="-120"/>
              </a:rPr>
              <a:t>But the shuffled reference reaches 16.7% at the same point.</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0"/>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58685D"/>
                </a:solidFill>
                <a:latin typeface="Arial" pitchFamily="34" charset="0"/>
                <a:ea typeface="Arial" pitchFamily="34" charset="-122"/>
                <a:cs typeface="Arial" pitchFamily="34" charset="-120"/>
              </a:rPr>
              <a:t>08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20241F"/>
                </a:solidFill>
                <a:latin typeface="Cambria" pitchFamily="34" charset="0"/>
                <a:ea typeface="Cambria" pitchFamily="34" charset="-122"/>
                <a:cs typeface="Cambria" pitchFamily="34" charset="-120"/>
              </a:rPr>
              <a:t>The reference changes the interpretation</a:t>
            </a:r>
            <a:endParaRPr lang="en-US" sz="3300" dirty="0"/>
          </a:p>
        </p:txBody>
      </p:sp>
      <p:sp>
        <p:nvSpPr>
          <p:cNvPr id="4" name="Text 2"/>
          <p:cNvSpPr txBox="1"/>
          <p:nvPr/>
        </p:nvSpPr>
        <p:spPr>
          <a:xfrm>
            <a:off x="502920" y="6510528"/>
            <a:ext cx="11064240" cy="182880"/>
          </a:xfrm>
          <a:prstGeom prst="rect">
            <a:avLst/>
          </a:prstGeom>
          <a:noFill/>
          <a:ln/>
        </p:spPr>
        <p:txBody>
          <a:bodyPr wrap="square" lIns="0" tIns="0" rIns="0" bIns="0" rtlCol="0" anchor="ctr">
            <a:normAutofit/>
          </a:bodyPr>
          <a:lstStyle/>
          <a:p>
            <a:pPr indent="0" marL="0">
              <a:buNone/>
            </a:pPr>
            <a:r>
              <a:rPr lang="en-US" sz="900" dirty="0">
                <a:solidFill>
                  <a:srgbClr val="58685D"/>
                </a:solidFill>
                <a:latin typeface="Arial" pitchFamily="34" charset="0"/>
                <a:ea typeface="Arial" pitchFamily="34" charset="-122"/>
                <a:cs typeface="Arial" pitchFamily="34" charset="-120"/>
              </a:rPr>
              <a:t>Source: results/tables/null_comparison.csv, 20 timestamp shuffles</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10881360" cy="1234440"/>
        </p:xfrm>
        <a:graphic>
          <a:graphicData uri="http://schemas.openxmlformats.org/drawingml/2006/table">
            <a:tbl>
              <a:tblPr/>
              <a:tblGrid>
                <a:gridCol w="1554480"/>
                <a:gridCol w="1554480"/>
                <a:gridCol w="1554480"/>
                <a:gridCol w="1554480"/>
                <a:gridCol w="1554480"/>
                <a:gridCol w="1554480"/>
                <a:gridCol w="1554480"/>
              </a:tblGrid>
              <a:tr h="617220">
                <a:tc>
                  <a:txBody>
                    <a:bodyPr/>
                    <a:lstStyle/>
                    <a:p>
                      <a:pPr indent="0" marL="0">
                        <a:buNone/>
                      </a:pPr>
                      <a:r>
                        <a:rPr lang="en-US" sz="1700" b="1" dirty="0">
                          <a:solidFill>
                            <a:srgbClr val="20241F"/>
                          </a:solidFill>
                          <a:latin typeface="Arial" pitchFamily="34" charset="0"/>
                          <a:ea typeface="Arial" pitchFamily="34" charset="-122"/>
                          <a:cs typeface="Arial" pitchFamily="34" charset="-120"/>
                        </a:rPr>
                        <a:t>Distinct opponents</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b="1" dirty="0">
                          <a:solidFill>
                            <a:srgbClr val="20241F"/>
                          </a:solidFill>
                          <a:latin typeface="Arial" pitchFamily="34" charset="0"/>
                          <a:ea typeface="Arial" pitchFamily="34" charset="-122"/>
                          <a:cs typeface="Arial" pitchFamily="34" charset="-120"/>
                        </a:rPr>
                        <a:t>1</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b="1" dirty="0">
                          <a:solidFill>
                            <a:srgbClr val="20241F"/>
                          </a:solidFill>
                          <a:latin typeface="Arial" pitchFamily="34" charset="0"/>
                          <a:ea typeface="Arial" pitchFamily="34" charset="-122"/>
                          <a:cs typeface="Arial" pitchFamily="34" charset="-120"/>
                        </a:rPr>
                        <a:t>2</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b="1" dirty="0">
                          <a:solidFill>
                            <a:srgbClr val="20241F"/>
                          </a:solidFill>
                          <a:latin typeface="Arial" pitchFamily="34" charset="0"/>
                          <a:ea typeface="Arial" pitchFamily="34" charset="-122"/>
                          <a:cs typeface="Arial" pitchFamily="34" charset="-120"/>
                        </a:rPr>
                        <a:t>3</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b="1" dirty="0">
                          <a:solidFill>
                            <a:srgbClr val="20241F"/>
                          </a:solidFill>
                          <a:latin typeface="Arial" pitchFamily="34" charset="0"/>
                          <a:ea typeface="Arial" pitchFamily="34" charset="-122"/>
                          <a:cs typeface="Arial" pitchFamily="34" charset="-120"/>
                        </a:rPr>
                        <a:t>4</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b="1" dirty="0">
                          <a:solidFill>
                            <a:srgbClr val="20241F"/>
                          </a:solidFill>
                          <a:latin typeface="Arial" pitchFamily="34" charset="0"/>
                          <a:ea typeface="Arial" pitchFamily="34" charset="-122"/>
                          <a:cs typeface="Arial" pitchFamily="34" charset="-120"/>
                        </a:rPr>
                        <a:t>5</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b="1" dirty="0">
                          <a:solidFill>
                            <a:srgbClr val="20241F"/>
                          </a:solidFill>
                          <a:latin typeface="Arial" pitchFamily="34" charset="0"/>
                          <a:ea typeface="Arial" pitchFamily="34" charset="-122"/>
                          <a:cs typeface="Arial" pitchFamily="34" charset="-120"/>
                        </a:rPr>
                        <a:t>6+</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r>
              <a:tr h="617220">
                <a:tc>
                  <a:txBody>
                    <a:bodyPr/>
                    <a:lstStyle/>
                    <a:p>
                      <a:pPr indent="0" marL="0">
                        <a:buNone/>
                      </a:pPr>
                      <a:r>
                        <a:rPr lang="en-US" sz="1700" dirty="0">
                          <a:solidFill>
                            <a:srgbClr val="20241F"/>
                          </a:solidFill>
                          <a:latin typeface="Arial" pitchFamily="34" charset="0"/>
                          <a:ea typeface="Arial" pitchFamily="34" charset="-122"/>
                          <a:cs typeface="Arial" pitchFamily="34" charset="-120"/>
                        </a:rPr>
                        <a:t>Observed / shuffled</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dirty="0">
                          <a:solidFill>
                            <a:srgbClr val="20241F"/>
                          </a:solidFill>
                          <a:latin typeface="Arial" pitchFamily="34" charset="0"/>
                          <a:ea typeface="Arial" pitchFamily="34" charset="-122"/>
                          <a:cs typeface="Arial" pitchFamily="34" charset="-120"/>
                        </a:rPr>
                        <a:t>1.084</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dirty="0">
                          <a:solidFill>
                            <a:srgbClr val="20241F"/>
                          </a:solidFill>
                          <a:latin typeface="Arial" pitchFamily="34" charset="0"/>
                          <a:ea typeface="Arial" pitchFamily="34" charset="-122"/>
                          <a:cs typeface="Arial" pitchFamily="34" charset="-120"/>
                        </a:rPr>
                        <a:t>1.038</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dirty="0">
                          <a:solidFill>
                            <a:srgbClr val="20241F"/>
                          </a:solidFill>
                          <a:latin typeface="Arial" pitchFamily="34" charset="0"/>
                          <a:ea typeface="Arial" pitchFamily="34" charset="-122"/>
                          <a:cs typeface="Arial" pitchFamily="34" charset="-120"/>
                        </a:rPr>
                        <a:t>1.019</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dirty="0">
                          <a:solidFill>
                            <a:srgbClr val="20241F"/>
                          </a:solidFill>
                          <a:latin typeface="Arial" pitchFamily="34" charset="0"/>
                          <a:ea typeface="Arial" pitchFamily="34" charset="-122"/>
                          <a:cs typeface="Arial" pitchFamily="34" charset="-120"/>
                        </a:rPr>
                        <a:t>1.017</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dirty="0">
                          <a:solidFill>
                            <a:srgbClr val="20241F"/>
                          </a:solidFill>
                          <a:latin typeface="Arial" pitchFamily="34" charset="0"/>
                          <a:ea typeface="Arial" pitchFamily="34" charset="-122"/>
                          <a:cs typeface="Arial" pitchFamily="34" charset="-120"/>
                        </a:rPr>
                        <a:t>1.003</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c>
                  <a:txBody>
                    <a:bodyPr/>
                    <a:lstStyle/>
                    <a:p>
                      <a:pPr indent="0" marL="0">
                        <a:buNone/>
                      </a:pPr>
                      <a:r>
                        <a:rPr lang="en-US" sz="1700" dirty="0">
                          <a:solidFill>
                            <a:srgbClr val="20241F"/>
                          </a:solidFill>
                          <a:latin typeface="Arial" pitchFamily="34" charset="0"/>
                          <a:ea typeface="Arial" pitchFamily="34" charset="-122"/>
                          <a:cs typeface="Arial" pitchFamily="34" charset="-120"/>
                        </a:rPr>
                        <a:t>0.959</a:t>
                      </a:r>
                      <a:endParaRPr lang="en-US" sz="1700" dirty="0">
                        <a:latin typeface="Arial" charset="0"/>
                        <a:ea typeface="Arial" charset="0"/>
                        <a:cs typeface="Arial" charset="0"/>
                      </a:endParaRPr>
                    </a:p>
                  </a:txBody>
                  <a:tcPr marL="109728" marR="109728" marT="109728" marB="109728">
                    <a:lnL w="6350" cap="flat" cmpd="sng" algn="ctr">
                      <a:solidFill>
                        <a:srgbClr val="D8E2DA"/>
                      </a:solidFill>
                      <a:prstDash val="solid"/>
                      <a:round/>
                      <a:headEnd type="none" w="med" len="med"/>
                      <a:tailEnd type="none" w="med" len="med"/>
                    </a:lnL>
                    <a:lnR w="6350" cap="flat" cmpd="sng" algn="ctr">
                      <a:solidFill>
                        <a:srgbClr val="D8E2DA"/>
                      </a:solidFill>
                      <a:prstDash val="solid"/>
                      <a:round/>
                      <a:headEnd type="none" w="med" len="med"/>
                      <a:tailEnd type="none" w="med" len="med"/>
                    </a:lnR>
                    <a:lnT w="6350" cap="flat" cmpd="sng" algn="ctr">
                      <a:solidFill>
                        <a:srgbClr val="D8E2DA"/>
                      </a:solidFill>
                      <a:prstDash val="solid"/>
                      <a:round/>
                      <a:headEnd type="none" w="med" len="med"/>
                      <a:tailEnd type="none" w="med" len="med"/>
                    </a:lnT>
                    <a:lnB w="6350" cap="flat" cmpd="sng" algn="ctr">
                      <a:solidFill>
                        <a:srgbClr val="D8E2DA"/>
                      </a:solidFill>
                      <a:prstDash val="solid"/>
                      <a:round/>
                      <a:headEnd type="none" w="med" len="med"/>
                      <a:tailEnd type="none" w="med" len="med"/>
                    </a:lnB>
                    <a:solidFill>
                      <a:srgbClr val="EAF0EB"/>
                    </a:solidFill>
                  </a:tcPr>
                </a:tc>
              </a:tr>
            </a:tbl>
          </a:graphicData>
        </a:graphic>
      </p:graphicFrame>
      <p:sp>
        <p:nvSpPr>
          <p:cNvPr id="6" name="Text 3"/>
          <p:cNvSpPr txBox="1"/>
          <p:nvPr/>
        </p:nvSpPr>
        <p:spPr>
          <a:xfrm>
            <a:off x="731520" y="3840480"/>
            <a:ext cx="2057400" cy="731520"/>
          </a:xfrm>
          <a:prstGeom prst="rect">
            <a:avLst/>
          </a:prstGeom>
          <a:noFill/>
          <a:ln/>
        </p:spPr>
        <p:txBody>
          <a:bodyPr wrap="square" lIns="0" tIns="0" rIns="0" bIns="0" rtlCol="0" anchor="ctr">
            <a:normAutofit/>
          </a:bodyPr>
          <a:lstStyle/>
          <a:p>
            <a:pPr indent="0" marL="0">
              <a:buNone/>
            </a:pPr>
            <a:r>
              <a:rPr lang="en-US" sz="4200" b="1" dirty="0">
                <a:solidFill>
                  <a:srgbClr val="244336"/>
                </a:solidFill>
                <a:latin typeface="Cambria" pitchFamily="34" charset="0"/>
                <a:ea typeface="Cambria" pitchFamily="34" charset="-122"/>
                <a:cs typeface="Cambria" pitchFamily="34" charset="-120"/>
              </a:rPr>
              <a:t>1.084</a:t>
            </a:r>
            <a:endParaRPr lang="en-US" sz="4200" dirty="0"/>
          </a:p>
        </p:txBody>
      </p:sp>
      <p:sp>
        <p:nvSpPr>
          <p:cNvPr id="7" name="Text 4"/>
          <p:cNvSpPr txBox="1"/>
          <p:nvPr/>
        </p:nvSpPr>
        <p:spPr>
          <a:xfrm>
            <a:off x="731520" y="4681728"/>
            <a:ext cx="2423160" cy="411480"/>
          </a:xfrm>
          <a:prstGeom prst="rect">
            <a:avLst/>
          </a:prstGeom>
          <a:noFill/>
          <a:ln/>
        </p:spPr>
        <p:txBody>
          <a:bodyPr wrap="square" lIns="0" tIns="0" rIns="0" bIns="0" rtlCol="0" anchor="ctr">
            <a:normAutofit/>
          </a:bodyPr>
          <a:lstStyle/>
          <a:p>
            <a:pPr indent="0" marL="0">
              <a:buNone/>
            </a:pPr>
            <a:r>
              <a:rPr lang="en-US" sz="1700" dirty="0">
                <a:solidFill>
                  <a:srgbClr val="58685D"/>
                </a:solidFill>
                <a:latin typeface="Arial" pitchFamily="34" charset="0"/>
                <a:ea typeface="Arial" pitchFamily="34" charset="-122"/>
                <a:cs typeface="Arial" pitchFamily="34" charset="-120"/>
              </a:rPr>
              <a:t>first opponent</a:t>
            </a:r>
            <a:endParaRPr lang="en-US" sz="1700" dirty="0"/>
          </a:p>
        </p:txBody>
      </p:sp>
      <p:sp>
        <p:nvSpPr>
          <p:cNvPr id="8" name="Text 5"/>
          <p:cNvSpPr txBox="1"/>
          <p:nvPr/>
        </p:nvSpPr>
        <p:spPr>
          <a:xfrm>
            <a:off x="4069080" y="3840480"/>
            <a:ext cx="2057400" cy="731520"/>
          </a:xfrm>
          <a:prstGeom prst="rect">
            <a:avLst/>
          </a:prstGeom>
          <a:noFill/>
          <a:ln/>
        </p:spPr>
        <p:txBody>
          <a:bodyPr wrap="square" lIns="0" tIns="0" rIns="0" bIns="0" rtlCol="0" anchor="ctr">
            <a:normAutofit/>
          </a:bodyPr>
          <a:lstStyle/>
          <a:p>
            <a:pPr indent="0" marL="0">
              <a:buNone/>
            </a:pPr>
            <a:r>
              <a:rPr lang="en-US" sz="4200" b="1" dirty="0">
                <a:solidFill>
                  <a:srgbClr val="AA5A4A"/>
                </a:solidFill>
                <a:latin typeface="Cambria" pitchFamily="34" charset="0"/>
                <a:ea typeface="Cambria" pitchFamily="34" charset="-122"/>
                <a:cs typeface="Cambria" pitchFamily="34" charset="-120"/>
              </a:rPr>
              <a:t>0.959</a:t>
            </a:r>
            <a:endParaRPr lang="en-US" sz="4200" dirty="0"/>
          </a:p>
        </p:txBody>
      </p:sp>
      <p:sp>
        <p:nvSpPr>
          <p:cNvPr id="9" name="Text 6"/>
          <p:cNvSpPr txBox="1"/>
          <p:nvPr/>
        </p:nvSpPr>
        <p:spPr>
          <a:xfrm>
            <a:off x="4069080" y="4681728"/>
            <a:ext cx="2377440" cy="411480"/>
          </a:xfrm>
          <a:prstGeom prst="rect">
            <a:avLst/>
          </a:prstGeom>
          <a:noFill/>
          <a:ln/>
        </p:spPr>
        <p:txBody>
          <a:bodyPr wrap="square" lIns="0" tIns="0" rIns="0" bIns="0" rtlCol="0" anchor="ctr">
            <a:normAutofit/>
          </a:bodyPr>
          <a:lstStyle/>
          <a:p>
            <a:pPr indent="0" marL="0">
              <a:buNone/>
            </a:pPr>
            <a:r>
              <a:rPr lang="en-US" sz="1700" dirty="0">
                <a:solidFill>
                  <a:srgbClr val="58685D"/>
                </a:solidFill>
                <a:latin typeface="Arial" pitchFamily="34" charset="0"/>
                <a:ea typeface="Arial" pitchFamily="34" charset="-122"/>
                <a:cs typeface="Arial" pitchFamily="34" charset="-120"/>
              </a:rPr>
              <a:t>six or more</a:t>
            </a:r>
            <a:endParaRPr lang="en-US" sz="1700" dirty="0"/>
          </a:p>
        </p:txBody>
      </p:sp>
      <p:sp>
        <p:nvSpPr>
          <p:cNvPr id="10" name="Text 7"/>
          <p:cNvSpPr txBox="1"/>
          <p:nvPr/>
        </p:nvSpPr>
        <p:spPr>
          <a:xfrm>
            <a:off x="7315200" y="3840480"/>
            <a:ext cx="4069080" cy="1463040"/>
          </a:xfrm>
          <a:prstGeom prst="rect">
            <a:avLst/>
          </a:prstGeom>
          <a:noFill/>
          <a:ln/>
        </p:spPr>
        <p:txBody>
          <a:bodyPr wrap="square" lIns="0" tIns="0" rIns="0" bIns="0" rtlCol="0" anchor="ctr">
            <a:normAutofit/>
          </a:bodyPr>
          <a:lstStyle/>
          <a:p>
            <a:pPr indent="0" marL="0">
              <a:buNone/>
            </a:pPr>
            <a:r>
              <a:rPr lang="en-US" sz="2100" dirty="0">
                <a:solidFill>
                  <a:srgbClr val="20241F"/>
                </a:solidFill>
                <a:latin typeface="Arial" pitchFamily="34" charset="0"/>
                <a:ea typeface="Arial" pitchFamily="34" charset="-122"/>
                <a:cs typeface="Arial" pitchFamily="34" charset="-120"/>
              </a:rPr>
              <a:t>The excess over shuffled time falls as distinct opponents increase. We see a simple-contagion pattern without clear reinforcement.</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0"/>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58685D"/>
                </a:solidFill>
                <a:latin typeface="Arial" pitchFamily="34" charset="0"/>
                <a:ea typeface="Arial" pitchFamily="34" charset="-122"/>
                <a:cs typeface="Arial" pitchFamily="34" charset="-120"/>
              </a:rPr>
              <a:t>09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20241F"/>
                </a:solidFill>
                <a:latin typeface="Cambria" pitchFamily="34" charset="0"/>
                <a:ea typeface="Cambria" pitchFamily="34" charset="-122"/>
                <a:cs typeface="Cambria" pitchFamily="34" charset="-120"/>
              </a:rPr>
              <a:t>Matched players provide another check</a:t>
            </a:r>
            <a:endParaRPr lang="en-US" sz="3300" dirty="0"/>
          </a:p>
        </p:txBody>
      </p:sp>
      <p:sp>
        <p:nvSpPr>
          <p:cNvPr id="4" name="Text 2"/>
          <p:cNvSpPr txBox="1"/>
          <p:nvPr/>
        </p:nvSpPr>
        <p:spPr>
          <a:xfrm>
            <a:off x="502920" y="6510528"/>
            <a:ext cx="11064240" cy="182880"/>
          </a:xfrm>
          <a:prstGeom prst="rect">
            <a:avLst/>
          </a:prstGeom>
          <a:noFill/>
          <a:ln/>
        </p:spPr>
        <p:txBody>
          <a:bodyPr wrap="square" lIns="0" tIns="0" rIns="0" bIns="0" rtlCol="0" anchor="ctr">
            <a:normAutofit/>
          </a:bodyPr>
          <a:lstStyle/>
          <a:p>
            <a:pPr indent="0" marL="0">
              <a:buNone/>
            </a:pPr>
            <a:r>
              <a:rPr lang="en-US" sz="900" dirty="0">
                <a:solidFill>
                  <a:srgbClr val="58685D"/>
                </a:solidFill>
                <a:latin typeface="Arial" pitchFamily="34" charset="0"/>
                <a:ea typeface="Arial" pitchFamily="34" charset="-122"/>
                <a:cs typeface="Arial" pitchFamily="34" charset="-120"/>
              </a:rPr>
              <a:t>Source: docs/RESULTS.md, matched controls with prior rating and activity</a:t>
            </a:r>
            <a:endParaRPr lang="en-US" sz="900" dirty="0"/>
          </a:p>
        </p:txBody>
      </p:sp>
      <p:graphicFrame>
        <p:nvGraphicFramePr>
          <p:cNvPr id="5" name="Chart 0" descr=""/>
          <p:cNvGraphicFramePr/>
          <p:nvPr/>
        </p:nvGraphicFramePr>
        <p:xfrm>
          <a:off x="594360" y="1645920"/>
          <a:ext cx="722376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229600" y="1874520"/>
            <a:ext cx="2926080" cy="822960"/>
          </a:xfrm>
          <a:prstGeom prst="rect">
            <a:avLst/>
          </a:prstGeom>
          <a:noFill/>
          <a:ln/>
        </p:spPr>
        <p:txBody>
          <a:bodyPr wrap="square" lIns="0" tIns="0" rIns="0" bIns="0" rtlCol="0" anchor="ctr">
            <a:normAutofit/>
          </a:bodyPr>
          <a:lstStyle/>
          <a:p>
            <a:pPr indent="0" marL="0">
              <a:buNone/>
            </a:pPr>
            <a:r>
              <a:rPr lang="en-US" sz="4500" b="1" dirty="0">
                <a:solidFill>
                  <a:srgbClr val="244336"/>
                </a:solidFill>
                <a:latin typeface="Cambria" pitchFamily="34" charset="0"/>
                <a:ea typeface="Cambria" pitchFamily="34" charset="-122"/>
                <a:cs typeface="Cambria" pitchFamily="34" charset="-120"/>
              </a:rPr>
              <a:t>+2.55</a:t>
            </a:r>
            <a:endParaRPr lang="en-US" sz="4500" dirty="0"/>
          </a:p>
        </p:txBody>
      </p:sp>
      <p:sp>
        <p:nvSpPr>
          <p:cNvPr id="7" name="Text 4"/>
          <p:cNvSpPr txBox="1"/>
          <p:nvPr/>
        </p:nvSpPr>
        <p:spPr>
          <a:xfrm>
            <a:off x="8229600" y="2743200"/>
            <a:ext cx="2834640" cy="384048"/>
          </a:xfrm>
          <a:prstGeom prst="rect">
            <a:avLst/>
          </a:prstGeom>
          <a:noFill/>
          <a:ln/>
        </p:spPr>
        <p:txBody>
          <a:bodyPr wrap="square" lIns="0" tIns="0" rIns="0" bIns="0" rtlCol="0" anchor="ctr">
            <a:normAutofit/>
          </a:bodyPr>
          <a:lstStyle/>
          <a:p>
            <a:pPr indent="0" marL="0">
              <a:buNone/>
            </a:pPr>
            <a:r>
              <a:rPr lang="en-US" sz="1700" dirty="0">
                <a:solidFill>
                  <a:srgbClr val="58685D"/>
                </a:solidFill>
                <a:latin typeface="Arial" pitchFamily="34" charset="0"/>
                <a:ea typeface="Arial" pitchFamily="34" charset="-122"/>
                <a:cs typeface="Arial" pitchFamily="34" charset="-120"/>
              </a:rPr>
              <a:t>percentage points</a:t>
            </a:r>
            <a:endParaRPr lang="en-US" sz="1700" dirty="0"/>
          </a:p>
        </p:txBody>
      </p:sp>
      <p:sp>
        <p:nvSpPr>
          <p:cNvPr id="8" name="Text 5"/>
          <p:cNvSpPr txBox="1"/>
          <p:nvPr/>
        </p:nvSpPr>
        <p:spPr>
          <a:xfrm>
            <a:off x="8229600" y="3703320"/>
            <a:ext cx="3291840" cy="1280160"/>
          </a:xfrm>
          <a:prstGeom prst="rect">
            <a:avLst/>
          </a:prstGeom>
          <a:noFill/>
          <a:ln/>
        </p:spPr>
        <p:txBody>
          <a:bodyPr wrap="square" lIns="0" tIns="0" rIns="0" bIns="0" rtlCol="0" anchor="ctr">
            <a:normAutofit/>
          </a:bodyPr>
          <a:lstStyle/>
          <a:p>
            <a:pPr indent="0" marL="0">
              <a:buNone/>
            </a:pPr>
            <a:r>
              <a:rPr lang="en-US" sz="1800" dirty="0">
                <a:solidFill>
                  <a:srgbClr val="20241F"/>
                </a:solidFill>
                <a:latin typeface="Arial" pitchFamily="34" charset="0"/>
                <a:ea typeface="Arial" pitchFamily="34" charset="-122"/>
                <a:cs typeface="Arial" pitchFamily="34" charset="-120"/>
              </a:rPr>
              <a:t>56,459 matched pairs. Descriptive player-cluster interval: +1.82 to +3.13 points.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0"/>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58685D"/>
                </a:solidFill>
                <a:latin typeface="Arial" pitchFamily="34" charset="0"/>
                <a:ea typeface="Arial" pitchFamily="34" charset="-122"/>
                <a:cs typeface="Arial" pitchFamily="34" charset="-120"/>
              </a:rPr>
              <a:t>10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20241F"/>
                </a:solidFill>
                <a:latin typeface="Cambria" pitchFamily="34" charset="0"/>
                <a:ea typeface="Cambria" pitchFamily="34" charset="-122"/>
                <a:cs typeface="Cambria" pitchFamily="34" charset="-120"/>
              </a:rPr>
              <a:t>Network information improves prediction</a:t>
            </a:r>
            <a:endParaRPr lang="en-US" sz="3300" dirty="0"/>
          </a:p>
        </p:txBody>
      </p:sp>
      <p:sp>
        <p:nvSpPr>
          <p:cNvPr id="4" name="Text 2"/>
          <p:cNvSpPr txBox="1"/>
          <p:nvPr/>
        </p:nvSpPr>
        <p:spPr>
          <a:xfrm>
            <a:off x="502920" y="6510528"/>
            <a:ext cx="11064240" cy="182880"/>
          </a:xfrm>
          <a:prstGeom prst="rect">
            <a:avLst/>
          </a:prstGeom>
          <a:noFill/>
          <a:ln/>
        </p:spPr>
        <p:txBody>
          <a:bodyPr wrap="square" lIns="0" tIns="0" rIns="0" bIns="0" rtlCol="0" anchor="ctr">
            <a:normAutofit/>
          </a:bodyPr>
          <a:lstStyle/>
          <a:p>
            <a:pPr indent="0" marL="0">
              <a:buNone/>
            </a:pPr>
            <a:r>
              <a:rPr lang="en-US" sz="900" dirty="0">
                <a:solidFill>
                  <a:srgbClr val="58685D"/>
                </a:solidFill>
                <a:latin typeface="Arial" pitchFamily="34" charset="0"/>
                <a:ea typeface="Arial" pitchFamily="34" charset="-122"/>
                <a:cs typeface="Arial" pitchFamily="34" charset="-120"/>
              </a:rPr>
              <a:t>Source: docs/RESULTS.md, group-held-out test set</a:t>
            </a:r>
            <a:endParaRPr lang="en-US" sz="900" dirty="0"/>
          </a:p>
        </p:txBody>
      </p:sp>
      <p:graphicFrame>
        <p:nvGraphicFramePr>
          <p:cNvPr id="5" name="Chart 0" descr=""/>
          <p:cNvGraphicFramePr/>
          <p:nvPr/>
        </p:nvGraphicFramePr>
        <p:xfrm>
          <a:off x="594360" y="1645920"/>
          <a:ext cx="8275320" cy="42976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9006840" y="1965960"/>
            <a:ext cx="2606040" cy="2103120"/>
          </a:xfrm>
          <a:prstGeom prst="rect">
            <a:avLst/>
          </a:prstGeom>
          <a:noFill/>
          <a:ln/>
        </p:spPr>
        <p:txBody>
          <a:bodyPr wrap="square" lIns="0" tIns="0" rIns="0" bIns="0" rtlCol="0" anchor="ctr">
            <a:normAutofit/>
          </a:bodyPr>
          <a:lstStyle/>
          <a:p>
            <a:pPr indent="0" marL="0">
              <a:buNone/>
            </a:pPr>
            <a:r>
              <a:rPr lang="en-US" sz="2100" dirty="0">
                <a:solidFill>
                  <a:srgbClr val="244336"/>
                </a:solidFill>
                <a:latin typeface="Arial" pitchFamily="34" charset="0"/>
                <a:ea typeface="Arial" pitchFamily="34" charset="-122"/>
                <a:cs typeface="Arial" pitchFamily="34" charset="-120"/>
              </a:rPr>
              <a:t>Exposure and network features help rank later adoption in held-out player–opening groups.</a:t>
            </a:r>
            <a:endParaRPr lang="en-US" sz="2100" dirty="0"/>
          </a:p>
        </p:txBody>
      </p:sp>
      <p:sp>
        <p:nvSpPr>
          <p:cNvPr id="7" name="Text 4"/>
          <p:cNvSpPr txBox="1"/>
          <p:nvPr/>
        </p:nvSpPr>
        <p:spPr>
          <a:xfrm>
            <a:off x="9006840" y="4663440"/>
            <a:ext cx="2606040" cy="914400"/>
          </a:xfrm>
          <a:prstGeom prst="rect">
            <a:avLst/>
          </a:prstGeom>
          <a:noFill/>
          <a:ln/>
        </p:spPr>
        <p:txBody>
          <a:bodyPr wrap="square" lIns="0" tIns="0" rIns="0" bIns="0" rtlCol="0" anchor="ctr">
            <a:normAutofit/>
          </a:bodyPr>
          <a:lstStyle/>
          <a:p>
            <a:pPr indent="0" marL="0">
              <a:buNone/>
            </a:pPr>
            <a:r>
              <a:rPr lang="en-US" sz="1600" dirty="0">
                <a:solidFill>
                  <a:srgbClr val="58685D"/>
                </a:solidFill>
                <a:latin typeface="Arial" pitchFamily="34" charset="0"/>
                <a:ea typeface="Arial" pitchFamily="34" charset="-122"/>
                <a:cs typeface="Arial" pitchFamily="34" charset="-120"/>
              </a:rPr>
              <a:t>Prediction is useful evidence of signal, not proof of influence.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0"/>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58685D"/>
                </a:solidFill>
                <a:latin typeface="Arial" pitchFamily="34" charset="0"/>
                <a:ea typeface="Arial" pitchFamily="34" charset="-122"/>
                <a:cs typeface="Arial" pitchFamily="34" charset="-120"/>
              </a:rPr>
              <a:t>11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20241F"/>
                </a:solidFill>
                <a:latin typeface="Cambria" pitchFamily="34" charset="0"/>
                <a:ea typeface="Cambria" pitchFamily="34" charset="-122"/>
                <a:cs typeface="Cambria" pitchFamily="34" charset="-120"/>
              </a:rPr>
              <a:t>What the project lets us inspect</a:t>
            </a:r>
            <a:endParaRPr lang="en-US" sz="3300" dirty="0"/>
          </a:p>
        </p:txBody>
      </p:sp>
      <p:pic>
        <p:nvPicPr>
          <p:cNvPr id="4" name="Image 0" descr="C:\Users\hridy\Desktop\sna\results\figures\diffusion_panels.png">    </p:cNvPr>
          <p:cNvPicPr>
            <a:picLocks noChangeAspect="1"/>
          </p:cNvPicPr>
          <p:nvPr/>
        </p:nvPicPr>
        <p:blipFill>
          <a:blip r:embed="rId1"/>
          <a:stretch>
            <a:fillRect/>
          </a:stretch>
        </p:blipFill>
        <p:spPr>
          <a:xfrm>
            <a:off x="594360" y="1554480"/>
            <a:ext cx="7040880" cy="4389120"/>
          </a:xfrm>
          <a:prstGeom prst="rect">
            <a:avLst/>
          </a:prstGeom>
        </p:spPr>
      </p:pic>
      <p:sp>
        <p:nvSpPr>
          <p:cNvPr id="5" name="Text 2"/>
          <p:cNvSpPr txBox="1"/>
          <p:nvPr/>
        </p:nvSpPr>
        <p:spPr>
          <a:xfrm>
            <a:off x="8001000" y="1691640"/>
            <a:ext cx="3520440" cy="1234440"/>
          </a:xfrm>
          <a:prstGeom prst="rect">
            <a:avLst/>
          </a:prstGeom>
          <a:noFill/>
          <a:ln/>
        </p:spPr>
        <p:txBody>
          <a:bodyPr wrap="square" lIns="0" tIns="0" rIns="0" bIns="0" rtlCol="0" anchor="ctr">
            <a:normAutofit/>
          </a:bodyPr>
          <a:lstStyle/>
          <a:p>
            <a:pPr indent="0" marL="0">
              <a:buNone/>
            </a:pPr>
            <a:r>
              <a:rPr lang="en-US" sz="2100" dirty="0">
                <a:solidFill>
                  <a:srgbClr val="20241F"/>
                </a:solidFill>
                <a:latin typeface="Arial" pitchFamily="34" charset="0"/>
                <a:ea typeface="Arial" pitchFamily="34" charset="-122"/>
                <a:cs typeface="Arial" pitchFamily="34" charset="-120"/>
              </a:rPr>
              <a:t>The findings page shows the curve, sample sizes and opening-level filters.</a:t>
            </a:r>
            <a:endParaRPr lang="en-US" sz="2100" dirty="0"/>
          </a:p>
        </p:txBody>
      </p:sp>
      <p:sp>
        <p:nvSpPr>
          <p:cNvPr id="6" name="Text 3"/>
          <p:cNvSpPr txBox="1"/>
          <p:nvPr/>
        </p:nvSpPr>
        <p:spPr>
          <a:xfrm>
            <a:off x="8001000" y="3474720"/>
            <a:ext cx="3520440" cy="1371600"/>
          </a:xfrm>
          <a:prstGeom prst="rect">
            <a:avLst/>
          </a:prstGeom>
          <a:noFill/>
          <a:ln/>
        </p:spPr>
        <p:txBody>
          <a:bodyPr wrap="square" lIns="0" tIns="0" rIns="0" bIns="0" rtlCol="0" anchor="ctr">
            <a:normAutofit/>
          </a:bodyPr>
          <a:lstStyle/>
          <a:p>
            <a:pPr indent="0" marL="0">
              <a:buNone/>
            </a:pPr>
            <a:r>
              <a:rPr lang="en-US" sz="1900" dirty="0">
                <a:solidFill>
                  <a:srgbClr val="58685D"/>
                </a:solidFill>
                <a:latin typeface="Arial" pitchFamily="34" charset="0"/>
                <a:ea typeface="Arial" pitchFamily="34" charset="-122"/>
                <a:cs typeface="Arial" pitchFamily="34" charset="-120"/>
              </a:rPr>
              <a:t>The console adds a playable board, live stage updates and a network view as the pipeline runs.</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44336"/>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D8E3D6"/>
                </a:solidFill>
                <a:latin typeface="Arial" pitchFamily="34" charset="0"/>
                <a:ea typeface="Arial" pitchFamily="34" charset="-122"/>
                <a:cs typeface="Arial" pitchFamily="34" charset="-120"/>
              </a:rPr>
              <a:t>12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FFFFFF"/>
                </a:solidFill>
                <a:latin typeface="Cambria" pitchFamily="34" charset="0"/>
                <a:ea typeface="Cambria" pitchFamily="34" charset="-122"/>
                <a:cs typeface="Cambria" pitchFamily="34" charset="-120"/>
              </a:rPr>
              <a:t>Live demo: start a fresh analysis</a:t>
            </a:r>
            <a:endParaRPr lang="en-US" sz="3300" dirty="0"/>
          </a:p>
        </p:txBody>
      </p:sp>
      <p:sp>
        <p:nvSpPr>
          <p:cNvPr id="4" name="Shape 2"/>
          <p:cNvSpPr/>
          <p:nvPr/>
        </p:nvSpPr>
        <p:spPr>
          <a:xfrm>
            <a:off x="621792" y="1600200"/>
            <a:ext cx="5532120" cy="1691640"/>
          </a:xfrm>
          <a:prstGeom prst="rect">
            <a:avLst/>
          </a:prstGeom>
          <a:solidFill>
            <a:srgbClr val="315542"/>
          </a:solidFill>
          <a:ln w="15875">
            <a:solidFill>
              <a:srgbClr val="779580"/>
            </a:solidFill>
            <a:prstDash val="solid"/>
          </a:ln>
        </p:spPr>
      </p:sp>
      <p:sp>
        <p:nvSpPr>
          <p:cNvPr id="5" name="Text 3"/>
          <p:cNvSpPr txBox="1"/>
          <p:nvPr/>
        </p:nvSpPr>
        <p:spPr>
          <a:xfrm>
            <a:off x="877824" y="1856232"/>
            <a:ext cx="594360" cy="438912"/>
          </a:xfrm>
          <a:prstGeom prst="rect">
            <a:avLst/>
          </a:prstGeom>
          <a:noFill/>
          <a:ln/>
        </p:spPr>
        <p:txBody>
          <a:bodyPr wrap="square" lIns="0" tIns="0" rIns="0" bIns="0" rtlCol="0" anchor="ctr">
            <a:normAutofit/>
          </a:bodyPr>
          <a:lstStyle/>
          <a:p>
            <a:pPr indent="0" marL="0">
              <a:buNone/>
            </a:pPr>
            <a:r>
              <a:rPr lang="en-US" sz="2500" b="1" dirty="0">
                <a:solidFill>
                  <a:srgbClr val="D3A64A"/>
                </a:solidFill>
                <a:latin typeface="Cambria" pitchFamily="34" charset="0"/>
                <a:ea typeface="Cambria" pitchFamily="34" charset="-122"/>
                <a:cs typeface="Cambria" pitchFamily="34" charset="-120"/>
              </a:rPr>
              <a:t>01</a:t>
            </a:r>
            <a:endParaRPr lang="en-US" sz="2500" dirty="0"/>
          </a:p>
        </p:txBody>
      </p:sp>
      <p:sp>
        <p:nvSpPr>
          <p:cNvPr id="6" name="Text 4"/>
          <p:cNvSpPr txBox="1"/>
          <p:nvPr/>
        </p:nvSpPr>
        <p:spPr>
          <a:xfrm>
            <a:off x="1645920" y="1847088"/>
            <a:ext cx="4069080" cy="38404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OPEN</a:t>
            </a:r>
            <a:endParaRPr lang="en-US" sz="2000" dirty="0"/>
          </a:p>
        </p:txBody>
      </p:sp>
      <p:sp>
        <p:nvSpPr>
          <p:cNvPr id="7" name="Text 5"/>
          <p:cNvSpPr txBox="1"/>
          <p:nvPr/>
        </p:nvSpPr>
        <p:spPr>
          <a:xfrm>
            <a:off x="1645920" y="2313432"/>
            <a:ext cx="4023360" cy="704088"/>
          </a:xfrm>
          <a:prstGeom prst="rect">
            <a:avLst/>
          </a:prstGeom>
          <a:noFill/>
          <a:ln/>
        </p:spPr>
        <p:txBody>
          <a:bodyPr wrap="square" lIns="0" tIns="0" rIns="0" bIns="0" rtlCol="0" anchor="ctr">
            <a:normAutofit/>
          </a:bodyPr>
          <a:lstStyle/>
          <a:p>
            <a:pPr indent="0" marL="0">
              <a:buNone/>
            </a:pPr>
            <a:r>
              <a:rPr lang="en-US" sz="1700" dirty="0">
                <a:solidFill>
                  <a:srgbClr val="E0EAE0"/>
                </a:solidFill>
                <a:latin typeface="Arial" pitchFamily="34" charset="0"/>
                <a:ea typeface="Arial" pitchFamily="34" charset="-122"/>
                <a:cs typeface="Arial" pitchFamily="34" charset="-120"/>
              </a:rPr>
              <a:t>Start the local server; open 127.0.0.1:8124.</a:t>
            </a:r>
            <a:endParaRPr lang="en-US" sz="1700" dirty="0"/>
          </a:p>
        </p:txBody>
      </p:sp>
      <p:sp>
        <p:nvSpPr>
          <p:cNvPr id="8" name="Shape 6"/>
          <p:cNvSpPr/>
          <p:nvPr/>
        </p:nvSpPr>
        <p:spPr>
          <a:xfrm>
            <a:off x="6437376" y="1600200"/>
            <a:ext cx="5532120" cy="1691640"/>
          </a:xfrm>
          <a:prstGeom prst="rect">
            <a:avLst/>
          </a:prstGeom>
          <a:solidFill>
            <a:srgbClr val="315542"/>
          </a:solidFill>
          <a:ln w="15875">
            <a:solidFill>
              <a:srgbClr val="779580"/>
            </a:solidFill>
            <a:prstDash val="solid"/>
          </a:ln>
        </p:spPr>
      </p:sp>
      <p:sp>
        <p:nvSpPr>
          <p:cNvPr id="9" name="Text 7"/>
          <p:cNvSpPr txBox="1"/>
          <p:nvPr/>
        </p:nvSpPr>
        <p:spPr>
          <a:xfrm>
            <a:off x="6693408" y="1856232"/>
            <a:ext cx="594360" cy="438912"/>
          </a:xfrm>
          <a:prstGeom prst="rect">
            <a:avLst/>
          </a:prstGeom>
          <a:noFill/>
          <a:ln/>
        </p:spPr>
        <p:txBody>
          <a:bodyPr wrap="square" lIns="0" tIns="0" rIns="0" bIns="0" rtlCol="0" anchor="ctr">
            <a:normAutofit/>
          </a:bodyPr>
          <a:lstStyle/>
          <a:p>
            <a:pPr indent="0" marL="0">
              <a:buNone/>
            </a:pPr>
            <a:r>
              <a:rPr lang="en-US" sz="2500" b="1" dirty="0">
                <a:solidFill>
                  <a:srgbClr val="D3A64A"/>
                </a:solidFill>
                <a:latin typeface="Cambria" pitchFamily="34" charset="0"/>
                <a:ea typeface="Cambria" pitchFamily="34" charset="-122"/>
                <a:cs typeface="Cambria" pitchFamily="34" charset="-120"/>
              </a:rPr>
              <a:t>02</a:t>
            </a:r>
            <a:endParaRPr lang="en-US" sz="2500" dirty="0"/>
          </a:p>
        </p:txBody>
      </p:sp>
      <p:sp>
        <p:nvSpPr>
          <p:cNvPr id="10" name="Text 8"/>
          <p:cNvSpPr txBox="1"/>
          <p:nvPr/>
        </p:nvSpPr>
        <p:spPr>
          <a:xfrm>
            <a:off x="7461504" y="1847088"/>
            <a:ext cx="4069080" cy="38404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CHOOSE</a:t>
            </a:r>
            <a:endParaRPr lang="en-US" sz="2000" dirty="0"/>
          </a:p>
        </p:txBody>
      </p:sp>
      <p:sp>
        <p:nvSpPr>
          <p:cNvPr id="11" name="Text 9"/>
          <p:cNvSpPr txBox="1"/>
          <p:nvPr/>
        </p:nvSpPr>
        <p:spPr>
          <a:xfrm>
            <a:off x="7461504" y="2313432"/>
            <a:ext cx="4023360" cy="704088"/>
          </a:xfrm>
          <a:prstGeom prst="rect">
            <a:avLst/>
          </a:prstGeom>
          <a:noFill/>
          <a:ln/>
        </p:spPr>
        <p:txBody>
          <a:bodyPr wrap="square" lIns="0" tIns="0" rIns="0" bIns="0" rtlCol="0" anchor="ctr">
            <a:normAutofit/>
          </a:bodyPr>
          <a:lstStyle/>
          <a:p>
            <a:pPr indent="0" marL="0">
              <a:buNone/>
            </a:pPr>
            <a:r>
              <a:rPr lang="en-US" sz="1700" dirty="0">
                <a:solidFill>
                  <a:srgbClr val="E0EAE0"/>
                </a:solidFill>
                <a:latin typeface="Arial" pitchFamily="34" charset="0"/>
                <a:ea typeface="Arial" pitchFamily="34" charset="-122"/>
                <a:cs typeface="Arial" pitchFamily="34" charset="-120"/>
              </a:rPr>
              <a:t>Select “January 2016 quick live demo”.</a:t>
            </a:r>
            <a:endParaRPr lang="en-US" sz="1700" dirty="0"/>
          </a:p>
        </p:txBody>
      </p:sp>
      <p:sp>
        <p:nvSpPr>
          <p:cNvPr id="12" name="Shape 10"/>
          <p:cNvSpPr/>
          <p:nvPr/>
        </p:nvSpPr>
        <p:spPr>
          <a:xfrm>
            <a:off x="621792" y="3538728"/>
            <a:ext cx="5532120" cy="1691640"/>
          </a:xfrm>
          <a:prstGeom prst="rect">
            <a:avLst/>
          </a:prstGeom>
          <a:solidFill>
            <a:srgbClr val="315542"/>
          </a:solidFill>
          <a:ln w="15875">
            <a:solidFill>
              <a:srgbClr val="779580"/>
            </a:solidFill>
            <a:prstDash val="solid"/>
          </a:ln>
        </p:spPr>
      </p:sp>
      <p:sp>
        <p:nvSpPr>
          <p:cNvPr id="13" name="Text 11"/>
          <p:cNvSpPr txBox="1"/>
          <p:nvPr/>
        </p:nvSpPr>
        <p:spPr>
          <a:xfrm>
            <a:off x="877824" y="3794760"/>
            <a:ext cx="594360" cy="438912"/>
          </a:xfrm>
          <a:prstGeom prst="rect">
            <a:avLst/>
          </a:prstGeom>
          <a:noFill/>
          <a:ln/>
        </p:spPr>
        <p:txBody>
          <a:bodyPr wrap="square" lIns="0" tIns="0" rIns="0" bIns="0" rtlCol="0" anchor="ctr">
            <a:normAutofit/>
          </a:bodyPr>
          <a:lstStyle/>
          <a:p>
            <a:pPr indent="0" marL="0">
              <a:buNone/>
            </a:pPr>
            <a:r>
              <a:rPr lang="en-US" sz="2500" b="1" dirty="0">
                <a:solidFill>
                  <a:srgbClr val="D3A64A"/>
                </a:solidFill>
                <a:latin typeface="Cambria" pitchFamily="34" charset="0"/>
                <a:ea typeface="Cambria" pitchFamily="34" charset="-122"/>
                <a:cs typeface="Cambria" pitchFamily="34" charset="-120"/>
              </a:rPr>
              <a:t>03</a:t>
            </a:r>
            <a:endParaRPr lang="en-US" sz="2500" dirty="0"/>
          </a:p>
        </p:txBody>
      </p:sp>
      <p:sp>
        <p:nvSpPr>
          <p:cNvPr id="14" name="Text 12"/>
          <p:cNvSpPr txBox="1"/>
          <p:nvPr/>
        </p:nvSpPr>
        <p:spPr>
          <a:xfrm>
            <a:off x="1645920" y="3785616"/>
            <a:ext cx="4069080" cy="38404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RUN</a:t>
            </a:r>
            <a:endParaRPr lang="en-US" sz="2000" dirty="0"/>
          </a:p>
        </p:txBody>
      </p:sp>
      <p:sp>
        <p:nvSpPr>
          <p:cNvPr id="15" name="Text 13"/>
          <p:cNvSpPr txBox="1"/>
          <p:nvPr/>
        </p:nvSpPr>
        <p:spPr>
          <a:xfrm>
            <a:off x="1645920" y="4251960"/>
            <a:ext cx="4023360" cy="704088"/>
          </a:xfrm>
          <a:prstGeom prst="rect">
            <a:avLst/>
          </a:prstGeom>
          <a:noFill/>
          <a:ln/>
        </p:spPr>
        <p:txBody>
          <a:bodyPr wrap="square" lIns="0" tIns="0" rIns="0" bIns="0" rtlCol="0" anchor="ctr">
            <a:normAutofit/>
          </a:bodyPr>
          <a:lstStyle/>
          <a:p>
            <a:pPr indent="0" marL="0">
              <a:buNone/>
            </a:pPr>
            <a:r>
              <a:rPr lang="en-US" sz="1700" dirty="0">
                <a:solidFill>
                  <a:srgbClr val="E0EAE0"/>
                </a:solidFill>
                <a:latin typeface="Arial" pitchFamily="34" charset="0"/>
                <a:ea typeface="Arial" pitchFamily="34" charset="-122"/>
                <a:cs typeface="Arial" pitchFamily="34" charset="-120"/>
              </a:rPr>
              <a:t>Click Run analysis and watch each stage complete.</a:t>
            </a:r>
            <a:endParaRPr lang="en-US" sz="1700" dirty="0"/>
          </a:p>
        </p:txBody>
      </p:sp>
      <p:sp>
        <p:nvSpPr>
          <p:cNvPr id="16" name="Shape 14"/>
          <p:cNvSpPr/>
          <p:nvPr/>
        </p:nvSpPr>
        <p:spPr>
          <a:xfrm>
            <a:off x="6437376" y="3538728"/>
            <a:ext cx="5532120" cy="1691640"/>
          </a:xfrm>
          <a:prstGeom prst="rect">
            <a:avLst/>
          </a:prstGeom>
          <a:solidFill>
            <a:srgbClr val="315542"/>
          </a:solidFill>
          <a:ln w="15875">
            <a:solidFill>
              <a:srgbClr val="779580"/>
            </a:solidFill>
            <a:prstDash val="solid"/>
          </a:ln>
        </p:spPr>
      </p:sp>
      <p:sp>
        <p:nvSpPr>
          <p:cNvPr id="17" name="Text 15"/>
          <p:cNvSpPr txBox="1"/>
          <p:nvPr/>
        </p:nvSpPr>
        <p:spPr>
          <a:xfrm>
            <a:off x="6693408" y="3794760"/>
            <a:ext cx="594360" cy="438912"/>
          </a:xfrm>
          <a:prstGeom prst="rect">
            <a:avLst/>
          </a:prstGeom>
          <a:noFill/>
          <a:ln/>
        </p:spPr>
        <p:txBody>
          <a:bodyPr wrap="square" lIns="0" tIns="0" rIns="0" bIns="0" rtlCol="0" anchor="ctr">
            <a:normAutofit/>
          </a:bodyPr>
          <a:lstStyle/>
          <a:p>
            <a:pPr indent="0" marL="0">
              <a:buNone/>
            </a:pPr>
            <a:r>
              <a:rPr lang="en-US" sz="2500" b="1" dirty="0">
                <a:solidFill>
                  <a:srgbClr val="D3A64A"/>
                </a:solidFill>
                <a:latin typeface="Cambria" pitchFamily="34" charset="0"/>
                <a:ea typeface="Cambria" pitchFamily="34" charset="-122"/>
                <a:cs typeface="Cambria" pitchFamily="34" charset="-120"/>
              </a:rPr>
              <a:t>04</a:t>
            </a:r>
            <a:endParaRPr lang="en-US" sz="2500" dirty="0"/>
          </a:p>
        </p:txBody>
      </p:sp>
      <p:sp>
        <p:nvSpPr>
          <p:cNvPr id="18" name="Text 16"/>
          <p:cNvSpPr txBox="1"/>
          <p:nvPr/>
        </p:nvSpPr>
        <p:spPr>
          <a:xfrm>
            <a:off x="7461504" y="3785616"/>
            <a:ext cx="4069080" cy="384048"/>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rial" pitchFamily="34" charset="0"/>
                <a:ea typeface="Arial" pitchFamily="34" charset="-122"/>
                <a:cs typeface="Arial" pitchFamily="34" charset="-120"/>
              </a:rPr>
              <a:t>EXPLORE</a:t>
            </a:r>
            <a:endParaRPr lang="en-US" sz="2000" dirty="0"/>
          </a:p>
        </p:txBody>
      </p:sp>
      <p:sp>
        <p:nvSpPr>
          <p:cNvPr id="19" name="Text 17"/>
          <p:cNvSpPr txBox="1"/>
          <p:nvPr/>
        </p:nvSpPr>
        <p:spPr>
          <a:xfrm>
            <a:off x="7461504" y="4251960"/>
            <a:ext cx="4023360" cy="704088"/>
          </a:xfrm>
          <a:prstGeom prst="rect">
            <a:avLst/>
          </a:prstGeom>
          <a:noFill/>
          <a:ln/>
        </p:spPr>
        <p:txBody>
          <a:bodyPr wrap="square" lIns="0" tIns="0" rIns="0" bIns="0" rtlCol="0" anchor="ctr">
            <a:normAutofit/>
          </a:bodyPr>
          <a:lstStyle/>
          <a:p>
            <a:pPr indent="0" marL="0">
              <a:buNone/>
            </a:pPr>
            <a:r>
              <a:rPr lang="en-US" sz="1700" dirty="0">
                <a:solidFill>
                  <a:srgbClr val="E0EAE0"/>
                </a:solidFill>
                <a:latin typeface="Arial" pitchFamily="34" charset="0"/>
                <a:ea typeface="Arial" pitchFamily="34" charset="-122"/>
                <a:cs typeface="Arial" pitchFamily="34" charset="-120"/>
              </a:rPr>
              <a:t>Play moves on the board, then open Findings.</a:t>
            </a:r>
            <a:endParaRPr lang="en-US" sz="1700" dirty="0"/>
          </a:p>
        </p:txBody>
      </p:sp>
      <p:sp>
        <p:nvSpPr>
          <p:cNvPr id="20" name="Shape 18"/>
          <p:cNvSpPr/>
          <p:nvPr/>
        </p:nvSpPr>
        <p:spPr>
          <a:xfrm>
            <a:off x="621792" y="5605272"/>
            <a:ext cx="11347704" cy="594360"/>
          </a:xfrm>
          <a:prstGeom prst="rect">
            <a:avLst/>
          </a:prstGeom>
          <a:solidFill>
            <a:srgbClr val="315542"/>
          </a:solidFill>
          <a:ln w="15875">
            <a:solidFill>
              <a:srgbClr val="779580"/>
            </a:solidFill>
            <a:prstDash val="solid"/>
          </a:ln>
        </p:spPr>
      </p:sp>
      <p:sp>
        <p:nvSpPr>
          <p:cNvPr id="21" name="Text 19"/>
          <p:cNvSpPr txBox="1"/>
          <p:nvPr/>
        </p:nvSpPr>
        <p:spPr>
          <a:xfrm>
            <a:off x="877824" y="5751576"/>
            <a:ext cx="10789920" cy="292608"/>
          </a:xfrm>
          <a:prstGeom prst="rect">
            <a:avLst/>
          </a:prstGeom>
          <a:noFill/>
          <a:ln/>
        </p:spPr>
        <p:txBody>
          <a:bodyPr wrap="square" lIns="0" tIns="0" rIns="0" bIns="0" rtlCol="0" anchor="ctr">
            <a:normAutofit/>
          </a:bodyPr>
          <a:lstStyle/>
          <a:p>
            <a:pPr indent="0" marL="0">
              <a:buNone/>
            </a:pPr>
            <a:r>
              <a:rPr lang="en-US" sz="1500" dirty="0">
                <a:solidFill>
                  <a:srgbClr val="FFFFFF"/>
                </a:solidFill>
                <a:latin typeface="Arial" pitchFamily="34" charset="0"/>
                <a:ea typeface="Arial" pitchFamily="34" charset="-122"/>
                <a:cs typeface="Arial" pitchFamily="34" charset="-120"/>
              </a:rPr>
              <a:t>The 60,000-game sample runs fresh on real games; its one-shuffle verdict is exploratory.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1F5F0"/>
        </a:solidFill>
      </p:bgPr>
    </p:bg>
    <p:spTree>
      <p:nvGrpSpPr>
        <p:cNvPr id="1" name=""/>
        <p:cNvGrpSpPr/>
        <p:nvPr/>
      </p:nvGrpSpPr>
      <p:grpSpPr>
        <a:xfrm>
          <a:off x="0" y="0"/>
          <a:ext cx="0" cy="0"/>
          <a:chOff x="0" y="0"/>
          <a:chExt cx="0" cy="0"/>
        </a:xfrm>
      </p:grpSpPr>
      <p:sp>
        <p:nvSpPr>
          <p:cNvPr id="2" name="Text 0"/>
          <p:cNvSpPr txBox="1"/>
          <p:nvPr/>
        </p:nvSpPr>
        <p:spPr>
          <a:xfrm>
            <a:off x="566928" y="329184"/>
            <a:ext cx="960120" cy="219456"/>
          </a:xfrm>
          <a:prstGeom prst="rect">
            <a:avLst/>
          </a:prstGeom>
          <a:noFill/>
          <a:ln/>
        </p:spPr>
        <p:txBody>
          <a:bodyPr wrap="square" lIns="0" tIns="0" rIns="0" bIns="0" rtlCol="0" anchor="ctr">
            <a:normAutofit/>
          </a:bodyPr>
          <a:lstStyle/>
          <a:p>
            <a:pPr indent="0" marL="0">
              <a:buNone/>
            </a:pPr>
            <a:r>
              <a:rPr lang="en-US" sz="1000" b="1" spc="120" kern="0" dirty="0">
                <a:solidFill>
                  <a:srgbClr val="58685D"/>
                </a:solidFill>
                <a:latin typeface="Arial" pitchFamily="34" charset="0"/>
                <a:ea typeface="Arial" pitchFamily="34" charset="-122"/>
                <a:cs typeface="Arial" pitchFamily="34" charset="-120"/>
              </a:rPr>
              <a:t>13 / 13</a:t>
            </a:r>
            <a:endParaRPr lang="en-US" sz="1000" dirty="0"/>
          </a:p>
        </p:txBody>
      </p:sp>
      <p:sp>
        <p:nvSpPr>
          <p:cNvPr id="3" name="Text 1"/>
          <p:cNvSpPr txBox="1"/>
          <p:nvPr/>
        </p:nvSpPr>
        <p:spPr>
          <a:xfrm>
            <a:off x="502920" y="658368"/>
            <a:ext cx="11109960" cy="731520"/>
          </a:xfrm>
          <a:prstGeom prst="rect">
            <a:avLst/>
          </a:prstGeom>
          <a:noFill/>
          <a:ln/>
        </p:spPr>
        <p:txBody>
          <a:bodyPr wrap="square" lIns="0" tIns="0" rIns="0" bIns="0" rtlCol="0" anchor="ctr">
            <a:normAutofit/>
          </a:bodyPr>
          <a:lstStyle/>
          <a:p>
            <a:pPr indent="0" marL="0">
              <a:buNone/>
            </a:pPr>
            <a:r>
              <a:rPr lang="en-US" sz="3300" b="1" dirty="0">
                <a:solidFill>
                  <a:srgbClr val="20241F"/>
                </a:solidFill>
                <a:latin typeface="Cambria" pitchFamily="34" charset="0"/>
                <a:ea typeface="Cambria" pitchFamily="34" charset="-122"/>
                <a:cs typeface="Cambria" pitchFamily="34" charset="-120"/>
              </a:rPr>
              <a:t>What we can conclude</a:t>
            </a:r>
            <a:endParaRPr lang="en-US" sz="3300" dirty="0"/>
          </a:p>
        </p:txBody>
      </p:sp>
      <p:sp>
        <p:nvSpPr>
          <p:cNvPr id="4" name="Shape 2"/>
          <p:cNvSpPr/>
          <p:nvPr/>
        </p:nvSpPr>
        <p:spPr>
          <a:xfrm>
            <a:off x="621792" y="1572768"/>
            <a:ext cx="5449824" cy="2999232"/>
          </a:xfrm>
          <a:prstGeom prst="rect">
            <a:avLst/>
          </a:prstGeom>
          <a:solidFill>
            <a:srgbClr val="FFFFFF"/>
          </a:solidFill>
          <a:ln w="15875">
            <a:solidFill>
              <a:srgbClr val="C9D8CB"/>
            </a:solidFill>
            <a:prstDash val="solid"/>
          </a:ln>
        </p:spPr>
      </p:sp>
      <p:sp>
        <p:nvSpPr>
          <p:cNvPr id="5" name="Shape 3"/>
          <p:cNvSpPr/>
          <p:nvPr/>
        </p:nvSpPr>
        <p:spPr>
          <a:xfrm>
            <a:off x="6272784" y="1572768"/>
            <a:ext cx="5294376" cy="2999232"/>
          </a:xfrm>
          <a:prstGeom prst="rect">
            <a:avLst/>
          </a:prstGeom>
          <a:solidFill>
            <a:srgbClr val="FFFFFF"/>
          </a:solidFill>
          <a:ln w="15875">
            <a:solidFill>
              <a:srgbClr val="C9D8CB"/>
            </a:solidFill>
            <a:prstDash val="solid"/>
          </a:ln>
        </p:spPr>
      </p:sp>
      <p:sp>
        <p:nvSpPr>
          <p:cNvPr id="6" name="Text 4"/>
          <p:cNvSpPr txBox="1"/>
          <p:nvPr/>
        </p:nvSpPr>
        <p:spPr>
          <a:xfrm>
            <a:off x="896112" y="1856232"/>
            <a:ext cx="4754880" cy="292608"/>
          </a:xfrm>
          <a:prstGeom prst="rect">
            <a:avLst/>
          </a:prstGeom>
          <a:noFill/>
          <a:ln/>
        </p:spPr>
        <p:txBody>
          <a:bodyPr wrap="square" lIns="0" tIns="0" rIns="0" bIns="0" rtlCol="0" anchor="ctr">
            <a:normAutofit/>
          </a:bodyPr>
          <a:lstStyle/>
          <a:p>
            <a:pPr indent="0" marL="0">
              <a:buNone/>
            </a:pPr>
            <a:r>
              <a:rPr lang="en-US" sz="1400" b="1" spc="100" kern="0" dirty="0">
                <a:solidFill>
                  <a:srgbClr val="244336"/>
                </a:solidFill>
                <a:latin typeface="Arial" pitchFamily="34" charset="0"/>
                <a:ea typeface="Arial" pitchFamily="34" charset="-122"/>
                <a:cs typeface="Arial" pitchFamily="34" charset="-120"/>
              </a:rPr>
              <a:t>OBSERVED PATTERN</a:t>
            </a:r>
            <a:endParaRPr lang="en-US" sz="1400" dirty="0"/>
          </a:p>
        </p:txBody>
      </p:sp>
      <p:sp>
        <p:nvSpPr>
          <p:cNvPr id="7" name="Text 5"/>
          <p:cNvSpPr txBox="1"/>
          <p:nvPr/>
        </p:nvSpPr>
        <p:spPr>
          <a:xfrm>
            <a:off x="896112" y="2340864"/>
            <a:ext cx="4818888" cy="1645920"/>
          </a:xfrm>
          <a:prstGeom prst="rect">
            <a:avLst/>
          </a:prstGeom>
          <a:noFill/>
          <a:ln/>
        </p:spPr>
        <p:txBody>
          <a:bodyPr wrap="square" lIns="0" tIns="0" rIns="0" bIns="0" rtlCol="0" anchor="ctr">
            <a:normAutofit/>
          </a:bodyPr>
          <a:lstStyle/>
          <a:p>
            <a:pPr indent="0" marL="0">
              <a:buNone/>
            </a:pPr>
            <a:r>
              <a:rPr lang="en-US" sz="2200" dirty="0">
                <a:solidFill>
                  <a:srgbClr val="20241F"/>
                </a:solidFill>
                <a:latin typeface="Arial" pitchFamily="34" charset="0"/>
                <a:ea typeface="Arial" pitchFamily="34" charset="-122"/>
                <a:cs typeface="Arial" pitchFamily="34" charset="-120"/>
              </a:rPr>
              <a:t>One exposure shows a small excess over shuffled time. More distinct opponents bring no clear added reinforcement.</a:t>
            </a:r>
            <a:endParaRPr lang="en-US" sz="2200" dirty="0"/>
          </a:p>
        </p:txBody>
      </p:sp>
      <p:sp>
        <p:nvSpPr>
          <p:cNvPr id="8" name="Text 6"/>
          <p:cNvSpPr txBox="1"/>
          <p:nvPr/>
        </p:nvSpPr>
        <p:spPr>
          <a:xfrm>
            <a:off x="6547104" y="1856232"/>
            <a:ext cx="4663440" cy="292608"/>
          </a:xfrm>
          <a:prstGeom prst="rect">
            <a:avLst/>
          </a:prstGeom>
          <a:noFill/>
          <a:ln/>
        </p:spPr>
        <p:txBody>
          <a:bodyPr wrap="square" lIns="0" tIns="0" rIns="0" bIns="0" rtlCol="0" anchor="ctr">
            <a:normAutofit/>
          </a:bodyPr>
          <a:lstStyle/>
          <a:p>
            <a:pPr indent="0" marL="0">
              <a:buNone/>
            </a:pPr>
            <a:r>
              <a:rPr lang="en-US" sz="1400" b="1" spc="100" kern="0" dirty="0">
                <a:solidFill>
                  <a:srgbClr val="AA5A4A"/>
                </a:solidFill>
                <a:latin typeface="Arial" pitchFamily="34" charset="0"/>
                <a:ea typeface="Arial" pitchFamily="34" charset="-122"/>
                <a:cs typeface="Arial" pitchFamily="34" charset="-120"/>
              </a:rPr>
              <a:t>IMPORTANT LIMIT</a:t>
            </a:r>
            <a:endParaRPr lang="en-US" sz="1400" dirty="0"/>
          </a:p>
        </p:txBody>
      </p:sp>
      <p:sp>
        <p:nvSpPr>
          <p:cNvPr id="9" name="Text 7"/>
          <p:cNvSpPr txBox="1"/>
          <p:nvPr/>
        </p:nvSpPr>
        <p:spPr>
          <a:xfrm>
            <a:off x="6547104" y="2340864"/>
            <a:ext cx="4645152" cy="1645920"/>
          </a:xfrm>
          <a:prstGeom prst="rect">
            <a:avLst/>
          </a:prstGeom>
          <a:noFill/>
          <a:ln/>
        </p:spPr>
        <p:txBody>
          <a:bodyPr wrap="square" lIns="0" tIns="0" rIns="0" bIns="0" rtlCol="0" anchor="ctr">
            <a:normAutofit/>
          </a:bodyPr>
          <a:lstStyle/>
          <a:p>
            <a:pPr indent="0" marL="0">
              <a:buNone/>
            </a:pPr>
            <a:r>
              <a:rPr lang="en-US" sz="2200" dirty="0">
                <a:solidFill>
                  <a:srgbClr val="20241F"/>
                </a:solidFill>
                <a:latin typeface="Arial" pitchFamily="34" charset="0"/>
                <a:ea typeface="Arial" pitchFamily="34" charset="-122"/>
                <a:cs typeface="Arial" pitchFamily="34" charset="-120"/>
              </a:rPr>
              <a:t>Opponents and openings are selected by players. These observational data show association, not causation.</a:t>
            </a:r>
            <a:endParaRPr lang="en-US" sz="2200" dirty="0"/>
          </a:p>
        </p:txBody>
      </p:sp>
      <p:sp>
        <p:nvSpPr>
          <p:cNvPr id="10" name="Shape 8"/>
          <p:cNvSpPr/>
          <p:nvPr/>
        </p:nvSpPr>
        <p:spPr>
          <a:xfrm>
            <a:off x="621792" y="4855464"/>
            <a:ext cx="10945368" cy="1298448"/>
          </a:xfrm>
          <a:prstGeom prst="rect">
            <a:avLst/>
          </a:prstGeom>
          <a:solidFill>
            <a:srgbClr val="FFFFFF"/>
          </a:solidFill>
          <a:ln w="15875">
            <a:solidFill>
              <a:srgbClr val="C9D8CB"/>
            </a:solidFill>
            <a:prstDash val="solid"/>
          </a:ln>
        </p:spPr>
      </p:sp>
      <p:sp>
        <p:nvSpPr>
          <p:cNvPr id="11" name="Text 9"/>
          <p:cNvSpPr txBox="1"/>
          <p:nvPr/>
        </p:nvSpPr>
        <p:spPr>
          <a:xfrm>
            <a:off x="896112" y="5093208"/>
            <a:ext cx="1920240" cy="283464"/>
          </a:xfrm>
          <a:prstGeom prst="rect">
            <a:avLst/>
          </a:prstGeom>
          <a:noFill/>
          <a:ln/>
        </p:spPr>
        <p:txBody>
          <a:bodyPr wrap="square" lIns="0" tIns="0" rIns="0" bIns="0" rtlCol="0" anchor="ctr">
            <a:normAutofit/>
          </a:bodyPr>
          <a:lstStyle/>
          <a:p>
            <a:pPr indent="0" marL="0">
              <a:buNone/>
            </a:pPr>
            <a:r>
              <a:rPr lang="en-US" sz="1400" b="1" spc="100" kern="0" dirty="0">
                <a:solidFill>
                  <a:srgbClr val="244336"/>
                </a:solidFill>
                <a:latin typeface="Arial" pitchFamily="34" charset="0"/>
                <a:ea typeface="Arial" pitchFamily="34" charset="-122"/>
                <a:cs typeface="Arial" pitchFamily="34" charset="-120"/>
              </a:rPr>
              <a:t>NEXT TEST</a:t>
            </a:r>
            <a:endParaRPr lang="en-US" sz="1400" dirty="0"/>
          </a:p>
        </p:txBody>
      </p:sp>
      <p:sp>
        <p:nvSpPr>
          <p:cNvPr id="12" name="Text 10"/>
          <p:cNvSpPr txBox="1"/>
          <p:nvPr/>
        </p:nvSpPr>
        <p:spPr>
          <a:xfrm>
            <a:off x="2862072" y="5020056"/>
            <a:ext cx="8366760" cy="777240"/>
          </a:xfrm>
          <a:prstGeom prst="rect">
            <a:avLst/>
          </a:prstGeom>
          <a:noFill/>
          <a:ln/>
        </p:spPr>
        <p:txBody>
          <a:bodyPr wrap="square" lIns="0" tIns="0" rIns="0" bIns="0" rtlCol="0" anchor="ctr">
            <a:normAutofit/>
          </a:bodyPr>
          <a:lstStyle/>
          <a:p>
            <a:pPr indent="0" marL="0">
              <a:buNone/>
            </a:pPr>
            <a:r>
              <a:rPr lang="en-US" sz="1900" dirty="0">
                <a:solidFill>
                  <a:srgbClr val="20241F"/>
                </a:solidFill>
                <a:latin typeface="Arial" pitchFamily="34" charset="0"/>
                <a:ea typeface="Arial" pitchFamily="34" charset="-122"/>
                <a:cs typeface="Arial" pitchFamily="34" charset="-120"/>
              </a:rPr>
              <a:t>Repeat the pipeline on a second archive month and compare the same exposure curve and checks.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Student research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Chess Openings as Contagion: project presentation</dc:title>
  <dc:subject>Chess openings as contagion</dc:subject>
  <dc:creator>BlackBeanEagles</dc:creator>
  <cp:lastModifiedBy>BlackBeanEagles</cp:lastModifiedBy>
  <cp:revision>1</cp:revision>
  <dcterms:created xsi:type="dcterms:W3CDTF">2026-10-30T12:48:20Z</dcterms:created>
  <dcterms:modified xsi:type="dcterms:W3CDTF">2026-10-30T12:48:20Z</dcterms:modified>
</cp:coreProperties>
</file>