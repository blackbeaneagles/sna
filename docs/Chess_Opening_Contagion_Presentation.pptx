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Observed</c:v>
                </c:pt>
              </c:strCache>
            </c:strRef>
          </c:tx>
          <c:spPr>
            <a:solidFill>
              <a:srgbClr val="244336"/>
            </a:solidFill>
            <a:ln w="25400" cap="flat">
              <a:solidFill>
                <a:srgbClr val="24433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44336"/>
              </a:solidFill>
              <a:ln w="9525" cap="flat">
                <a:solidFill>
                  <a:srgbClr val="244336"/>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13.56</c:v>
                </c:pt>
                <c:pt idx="1">
                  <c:v>12.92</c:v>
                </c:pt>
                <c:pt idx="2">
                  <c:v>13.48</c:v>
                </c:pt>
                <c:pt idx="3">
                  <c:v>14.08</c:v>
                </c:pt>
                <c:pt idx="4">
                  <c:v>14.46</c:v>
                </c:pt>
                <c:pt idx="5">
                  <c:v>16.01</c:v>
                </c:pt>
              </c:numCache>
            </c:numRef>
          </c:val>
          <c:smooth val="0"/>
        </c:ser>
        <c:ser>
          <c:idx val="1"/>
          <c:order val="1"/>
          <c:tx>
            <c:strRef>
              <c:f>Sheet1!$C$1</c:f>
              <c:strCache>
                <c:ptCount val="1"/>
                <c:pt idx="0">
                  <c:v>Shuffled reference</c:v>
                </c:pt>
              </c:strCache>
            </c:strRef>
          </c:tx>
          <c:spPr>
            <a:solidFill>
              <a:srgbClr val="D3A64A"/>
            </a:solidFill>
            <a:ln w="25400" cap="flat">
              <a:solidFill>
                <a:srgbClr val="D3A6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D3A64A"/>
              </a:solidFill>
              <a:ln w="9525" cap="flat">
                <a:solidFill>
                  <a:srgbClr val="D3A64A"/>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12.5</c:v>
                </c:pt>
                <c:pt idx="1">
                  <c:v>12.44</c:v>
                </c:pt>
                <c:pt idx="2">
                  <c:v>13.22</c:v>
                </c:pt>
                <c:pt idx="3">
                  <c:v>13.84</c:v>
                </c:pt>
                <c:pt idx="4">
                  <c:v>14.41</c:v>
                </c:pt>
                <c:pt idx="5">
                  <c:v>16.68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8685D"/>
                </a:solidFill>
                <a:latin typeface="Arial"/>
              </a:defRPr>
            </a:pPr>
            <a:endParaRPr lang="en-US"/>
          </a:p>
        </c:txPr>
        <c:crossAx val="2094734552"/>
        <c:crosses val="autoZero"/>
        <c:auto val="1"/>
        <c:lblAlgn val="ctr"/>
        <c:noMultiLvlLbl val="1"/>
      </c:catAx>
      <c:valAx>
        <c:axId val="2094734552"/>
        <c:scaling>
          <c:orientation val="minMax"/>
          <c:max val="18"/>
          <c:min val="1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8685D"/>
                </a:solidFill>
                <a:latin typeface="Arial"/>
              </a:defRPr>
            </a:pPr>
            <a:endParaRPr lang="en-US"/>
          </a:p>
        </c:txPr>
        <c:crossAx val="2094734554"/>
        <c:crosses val="autoZero"/>
        <c:crossBetween val="between"/>
      </c:valAx>
      <c:spPr>
        <a:noFill/>
        <a:ln>
          <a:noFill/>
        </a:ln>
        <a:effectLst/>
      </c:spPr>
    </c:plotArea>
    <c:legend>
      <c:legendPos val="b"/>
      <c:overlay val="0"/>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Adoption rate</c:v>
                </c:pt>
              </c:strCache>
            </c:strRef>
          </c:tx>
          <c:spPr>
            <a:solidFill>
              <a:srgbClr val="244336"/>
            </a:solidFill>
            <a:effectLst/>
          </c:spPr>
          <c:invertIfNegative val="0"/>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Exposed players</c:v>
                  </c:pt>
                  <c:pt idx="1">
                    <c:v>Matched controls</c:v>
                  </c:pt>
                </c:lvl>
              </c:multiLvlStrCache>
            </c:multiLvlStrRef>
          </c:cat>
          <c:val>
            <c:numRef>
              <c:f>Sheet1!$B$2:$B$3</c:f>
              <c:numCache>
                <c:formatCode>General</c:formatCode>
                <c:ptCount val="2"/>
                <c:pt idx="0">
                  <c:v>12.97</c:v>
                </c:pt>
                <c:pt idx="1">
                  <c:v>10.42</c:v>
                </c:pt>
              </c:numCache>
            </c:numRef>
          </c:val>
        </c:ser>
        <c:dLbls>
          <c:numFmt formatCode="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8685D"/>
                </a:solidFill>
                <a:latin typeface="Arial"/>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8685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Held-out AUC</c:v>
                </c:pt>
              </c:strCache>
            </c:strRef>
          </c:tx>
          <c:spPr>
            <a:solidFill>
              <a:srgbClr val="244336"/>
            </a:solidFill>
            <a:effectLst/>
          </c:spPr>
          <c:invertIfNegative val="0"/>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Baseline</c:v>
                  </c:pt>
                  <c:pt idx="1">
                    <c:v>+ Repertoire proximity</c:v>
                  </c:pt>
                  <c:pt idx="2">
                    <c:v>+ Exposure and network</c:v>
                  </c:pt>
                </c:lvl>
              </c:multiLvlStrCache>
            </c:multiLvlStrRef>
          </c:cat>
          <c:val>
            <c:numRef>
              <c:f>Sheet1!$B$2:$B$4</c:f>
              <c:numCache>
                <c:formatCode>General</c:formatCode>
                <c:ptCount val="3"/>
                <c:pt idx="0">
                  <c:v>0.595</c:v>
                </c:pt>
                <c:pt idx="1">
                  <c:v>0.608</c:v>
                </c:pt>
                <c:pt idx="2">
                  <c:v>0.633</c:v>
                </c:pt>
              </c:numCache>
            </c:numRef>
          </c:val>
        </c:ser>
        <c:dLbls>
          <c:numFmt formatCode="0.000" sourceLinked="0"/>
          <c:txPr>
            <a:bodyPr/>
            <a:lstStyle/>
            <a:p>
              <a:pPr>
                <a:defRPr b="0" i="0" strike="noStrike" sz="12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8685D"/>
                </a:solidFill>
                <a:latin typeface="Arial"/>
              </a:defRPr>
            </a:pPr>
            <a:endParaRPr lang="en-US"/>
          </a:p>
        </c:txPr>
        <c:crossAx val="2094734552"/>
        <c:crosses val="autoZero"/>
        <c:auto val="1"/>
        <c:lblAlgn val="ctr"/>
        <c:noMultiLvlLbl val="1"/>
      </c:catAx>
      <c:valAx>
        <c:axId val="2094734552"/>
        <c:scaling>
          <c:orientation val="minMax"/>
          <c:max val="0.7"/>
          <c:min val="0"/>
        </c:scaling>
        <c:delete val="0"/>
        <c:axPos val="l"/>
        <c:majorGridlines>
          <c:spPr>
            <a:ln w="6350" cap="flat">
              <a:solidFill>
                <a:srgbClr val="D8E2D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8685D"/>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We tested whether seeing an opening from an opponent predicts later use of that opening. Names and registration details can be added to this cover before submission.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simple contagion as one exposure potentially being enough. Complex contagion predicts reinforcement from multiple structurally distinct opponents. We only observe game records, so we speak about association rather than proof of influence.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sample is observational. The archive was filtered according to project configuration; do not call it representative of all Lichess chess or all players. The bundled classroom sample is for live recomputation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is an exposure trial with full 14-day follow-up. Playing a colour matters: an opening played as White and Black are distinct behaviours. One later adoption can contribute to more than one earlier trial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working UI, these stages update one after another. For a smooth live demo, run the bundled real-game sample. It executes the same analysis modules used for the full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network includes 6,881 nodes and one connected component. The communities come from the project’s network analysis. A within-community exposure share is descriptive and does not establish transmission.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reference matters. Popular openings and active players create more exposure and adoption even without reinforcement. The raw curve alone could suggest complex contagion; comparison with shuffled time changes the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ratio is observed adoption rate divided by shuffled reference rate. It declines across exposure counts. Twenty shuffles estimate a reference mean but are insufficient for a precise permutation tail probability. Avoid claiming causal diffusion.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Controls had not yet played or seen that opening at matching time. Rating and activity were calculated from earlier games. 16.16% of controls were exposed later. The comparison remains observational and susceptible to confounding.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uses popularity, rating, and activity. The test set contains 50,929 trials, with entire player-opening-colour spells held out together. Training AUC is materially higher, so acknowledge overfitting.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from this slide to the browser makes the project tangible. In the console, the board has server-validated moves and looks up opening evidence in the selected run. The findings page presents the full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presentation, launch the local server and leave it on the console page. When this slide appears, Alt-Tab to the browser, select the quick demo, and click Run analysis. This is a fresh computation on real sampled games, not a playback. Wait for the verdict, then use the board and Findings page. If it takes longer on the classroom laptop, narrate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distinction between the full January analysis and the quick classroom run. A second archive month is planned but currently blocked by certificate verification on the local connection. Student details should be added to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4336"/>
        </a:solidFill>
      </p:bgPr>
    </p:bg>
    <p:spTree>
      <p:nvGrpSpPr>
        <p:cNvPr id="1" name=""/>
        <p:cNvGrpSpPr/>
        <p:nvPr/>
      </p:nvGrpSpPr>
      <p:grpSpPr>
        <a:xfrm>
          <a:off x="0" y="0"/>
          <a:ext cx="0" cy="0"/>
          <a:chOff x="0" y="0"/>
          <a:chExt cx="0" cy="0"/>
        </a:xfrm>
      </p:grpSpPr>
      <p:pic>
        <p:nvPicPr>
          <p:cNvPr id="2" name="Image 0" descr="C:\Users\hridy\Desktop\sna\site\assets\chess-diffusion-walnut.png">    </p:cNvPr>
          <p:cNvPicPr>
            <a:picLocks noChangeAspect="1"/>
          </p:cNvPicPr>
          <p:nvPr/>
        </p:nvPicPr>
        <p:blipFill>
          <a:blip r:embed="rId1"/>
          <a:stretch>
            <a:fillRect/>
          </a:stretch>
        </p:blipFill>
        <p:spPr>
          <a:xfrm>
            <a:off x="6263640" y="0"/>
            <a:ext cx="5928055" cy="6858000"/>
          </a:xfrm>
          <a:prstGeom prst="rect">
            <a:avLst/>
          </a:prstGeom>
        </p:spPr>
      </p:pic>
      <p:sp>
        <p:nvSpPr>
          <p:cNvPr id="3" name="Text 0"/>
          <p:cNvSpPr txBox="1"/>
          <p:nvPr/>
        </p:nvSpPr>
        <p:spPr>
          <a:xfrm>
            <a:off x="594360" y="502920"/>
            <a:ext cx="5303520" cy="292608"/>
          </a:xfrm>
          <a:prstGeom prst="rect">
            <a:avLst/>
          </a:prstGeom>
          <a:noFill/>
          <a:ln/>
        </p:spPr>
        <p:txBody>
          <a:bodyPr wrap="square" lIns="0" tIns="0" rIns="0" bIns="0" rtlCol="0" anchor="ctr">
            <a:normAutofit/>
          </a:bodyPr>
          <a:lstStyle/>
          <a:p>
            <a:pPr indent="0" marL="0">
              <a:buNone/>
            </a:pPr>
            <a:r>
              <a:rPr lang="en-US" sz="1200" b="1" spc="200" kern="0" dirty="0">
                <a:solidFill>
                  <a:srgbClr val="D2E1D3"/>
                </a:solidFill>
                <a:latin typeface="Arial" pitchFamily="34" charset="0"/>
                <a:ea typeface="Arial" pitchFamily="34" charset="-122"/>
                <a:cs typeface="Arial" pitchFamily="34" charset="-120"/>
              </a:rPr>
              <a:t>CHESS / SOCIAL NETWORK ANALYSIS</a:t>
            </a:r>
            <a:endParaRPr lang="en-US" sz="1200" dirty="0"/>
          </a:p>
        </p:txBody>
      </p:sp>
      <p:sp>
        <p:nvSpPr>
          <p:cNvPr id="4" name="Text 1"/>
          <p:cNvSpPr txBox="1"/>
          <p:nvPr/>
        </p:nvSpPr>
        <p:spPr>
          <a:xfrm>
            <a:off x="594360" y="1371600"/>
            <a:ext cx="5577840" cy="2560320"/>
          </a:xfrm>
          <a:prstGeom prst="rect">
            <a:avLst/>
          </a:prstGeom>
          <a:noFill/>
          <a:ln/>
        </p:spPr>
        <p:txBody>
          <a:bodyPr wrap="square" lIns="0" tIns="0" rIns="0" bIns="0" rtlCol="0" anchor="ctr">
            <a:normAutofit/>
          </a:bodyPr>
          <a:lstStyle/>
          <a:p>
            <a:pPr indent="0" marL="0">
              <a:buNone/>
            </a:pPr>
            <a:r>
              <a:rPr lang="en-US" sz="4100" b="1" dirty="0">
                <a:solidFill>
                  <a:srgbClr val="FFFFFF"/>
                </a:solidFill>
                <a:latin typeface="Cambria" pitchFamily="34" charset="0"/>
                <a:ea typeface="Cambria" pitchFamily="34" charset="-122"/>
                <a:cs typeface="Cambria" pitchFamily="34" charset="-120"/>
              </a:rPr>
              <a:t>Can an opening</a:t>
            </a:r>
            <a:endParaRPr lang="en-US" sz="4100" dirty="0"/>
          </a:p>
          <a:p>
            <a:pPr indent="0" marL="0">
              <a:buNone/>
            </a:pPr>
            <a:r>
              <a:rPr lang="en-US" sz="4100" b="1" dirty="0">
                <a:solidFill>
                  <a:srgbClr val="FFFFFF"/>
                </a:solidFill>
                <a:latin typeface="Cambria" pitchFamily="34" charset="0"/>
                <a:ea typeface="Cambria" pitchFamily="34" charset="-122"/>
                <a:cs typeface="Cambria" pitchFamily="34" charset="-120"/>
              </a:rPr>
              <a:t>spread between</a:t>
            </a:r>
            <a:endParaRPr lang="en-US" sz="4100" dirty="0"/>
          </a:p>
          <a:p>
            <a:pPr indent="0" marL="0">
              <a:buNone/>
            </a:pPr>
            <a:r>
              <a:rPr lang="en-US" sz="4100" b="1" dirty="0">
                <a:solidFill>
                  <a:srgbClr val="FFFFFF"/>
                </a:solidFill>
                <a:latin typeface="Cambria" pitchFamily="34" charset="0"/>
                <a:ea typeface="Cambria" pitchFamily="34" charset="-122"/>
                <a:cs typeface="Cambria" pitchFamily="34" charset="-120"/>
              </a:rPr>
              <a:t>players?</a:t>
            </a:r>
            <a:endParaRPr lang="en-US" sz="4100" dirty="0"/>
          </a:p>
        </p:txBody>
      </p:sp>
      <p:sp>
        <p:nvSpPr>
          <p:cNvPr id="5" name="Text 2"/>
          <p:cNvSpPr txBox="1"/>
          <p:nvPr/>
        </p:nvSpPr>
        <p:spPr>
          <a:xfrm>
            <a:off x="621792" y="4572000"/>
            <a:ext cx="5212080" cy="822960"/>
          </a:xfrm>
          <a:prstGeom prst="rect">
            <a:avLst/>
          </a:prstGeom>
          <a:noFill/>
          <a:ln/>
        </p:spPr>
        <p:txBody>
          <a:bodyPr wrap="square" lIns="0" tIns="0" rIns="0" bIns="0" rtlCol="0" anchor="ctr">
            <a:normAutofit/>
          </a:bodyPr>
          <a:lstStyle/>
          <a:p>
            <a:pPr indent="0" marL="0">
              <a:buNone/>
            </a:pPr>
            <a:r>
              <a:rPr lang="en-US" sz="2000" dirty="0">
                <a:solidFill>
                  <a:srgbClr val="DFE9DE"/>
                </a:solidFill>
                <a:latin typeface="Arial" pitchFamily="34" charset="0"/>
                <a:ea typeface="Arial" pitchFamily="34" charset="-122"/>
                <a:cs typeface="Arial" pitchFamily="34" charset="-120"/>
              </a:rPr>
              <a:t>Evidence from Lichess games and a live analysis demo</a:t>
            </a:r>
            <a:endParaRPr lang="en-US" sz="2000" dirty="0"/>
          </a:p>
        </p:txBody>
      </p:sp>
      <p:sp>
        <p:nvSpPr>
          <p:cNvPr id="6" name="Text 3"/>
          <p:cNvSpPr txBox="1"/>
          <p:nvPr/>
        </p:nvSpPr>
        <p:spPr>
          <a:xfrm>
            <a:off x="621792" y="6144768"/>
            <a:ext cx="5029200" cy="274320"/>
          </a:xfrm>
          <a:prstGeom prst="rect">
            <a:avLst/>
          </a:prstGeom>
          <a:noFill/>
          <a:ln/>
        </p:spPr>
        <p:txBody>
          <a:bodyPr wrap="square" lIns="0" tIns="0" rIns="0" bIns="0" rtlCol="0" anchor="ctr">
            <a:normAutofit/>
          </a:bodyPr>
          <a:lstStyle/>
          <a:p>
            <a:pPr indent="0" marL="0">
              <a:buNone/>
            </a:pPr>
            <a:r>
              <a:rPr lang="en-US" sz="1300" b="1" dirty="0">
                <a:solidFill>
                  <a:srgbClr val="DFE9DE"/>
                </a:solidFill>
                <a:latin typeface="Arial" pitchFamily="34" charset="0"/>
                <a:ea typeface="Arial" pitchFamily="34" charset="-122"/>
                <a:cs typeface="Arial" pitchFamily="34" charset="-120"/>
              </a:rPr>
              <a:t>Chess Openings as Contagion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01</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question starts at the board</a:t>
            </a:r>
            <a:endParaRPr lang="en-US" sz="3300" dirty="0"/>
          </a:p>
        </p:txBody>
      </p:sp>
      <p:sp>
        <p:nvSpPr>
          <p:cNvPr id="4" name="Text 2"/>
          <p:cNvSpPr txBox="1"/>
          <p:nvPr/>
        </p:nvSpPr>
        <p:spPr>
          <a:xfrm>
            <a:off x="594360" y="1600200"/>
            <a:ext cx="4663440" cy="1005840"/>
          </a:xfrm>
          <a:prstGeom prst="rect">
            <a:avLst/>
          </a:prstGeom>
          <a:noFill/>
          <a:ln/>
        </p:spPr>
        <p:txBody>
          <a:bodyPr wrap="square" lIns="0" tIns="0" rIns="0" bIns="0" rtlCol="0" anchor="ctr">
            <a:normAutofit/>
          </a:bodyPr>
          <a:lstStyle/>
          <a:p>
            <a:pPr indent="0" marL="0">
              <a:buNone/>
            </a:pPr>
            <a:r>
              <a:rPr lang="en-US" sz="2700" dirty="0">
                <a:solidFill>
                  <a:srgbClr val="20241F"/>
                </a:solidFill>
                <a:latin typeface="Arial" pitchFamily="34" charset="0"/>
                <a:ea typeface="Arial" pitchFamily="34" charset="-122"/>
                <a:cs typeface="Arial" pitchFamily="34" charset="-120"/>
              </a:rPr>
              <a:t>You face the Sicilian today. Do you play it yourself later?</a:t>
            </a:r>
            <a:endParaRPr lang="en-US" sz="2700" dirty="0"/>
          </a:p>
        </p:txBody>
      </p:sp>
      <p:sp>
        <p:nvSpPr>
          <p:cNvPr id="5" name="Text 3"/>
          <p:cNvSpPr txBox="1"/>
          <p:nvPr/>
        </p:nvSpPr>
        <p:spPr>
          <a:xfrm>
            <a:off x="594360" y="2907792"/>
            <a:ext cx="4754880" cy="1417320"/>
          </a:xfrm>
          <a:prstGeom prst="rect">
            <a:avLst/>
          </a:prstGeom>
          <a:noFill/>
          <a:ln/>
        </p:spPr>
        <p:txBody>
          <a:bodyPr wrap="square" lIns="0" tIns="0" rIns="0" bIns="0" rtlCol="0" anchor="ctr">
            <a:normAutofit/>
          </a:bodyPr>
          <a:lstStyle/>
          <a:p>
            <a:pPr indent="0" marL="0">
              <a:buNone/>
            </a:pPr>
            <a:r>
              <a:rPr lang="en-US" sz="2000" dirty="0">
                <a:solidFill>
                  <a:srgbClr val="20241F"/>
                </a:solidFill>
                <a:latin typeface="Arial" pitchFamily="34" charset="0"/>
                <a:ea typeface="Arial" pitchFamily="34" charset="-122"/>
                <a:cs typeface="Arial" pitchFamily="34" charset="-120"/>
              </a:rPr>
              <a:t>One opponent may be enough. Or the opening may need to appear through several different opponents before you adopt it.</a:t>
            </a:r>
            <a:endParaRPr lang="en-US" sz="2000" dirty="0"/>
          </a:p>
        </p:txBody>
      </p:sp>
      <p:pic>
        <p:nvPicPr>
          <p:cNvPr id="6" name="Image 0" descr="C:\Users\hridy\Desktop\sna\site\assets\chess-diffusion-landscape.png">    </p:cNvPr>
          <p:cNvPicPr>
            <a:picLocks noChangeAspect="1"/>
          </p:cNvPicPr>
          <p:nvPr/>
        </p:nvPicPr>
        <p:blipFill>
          <a:blip r:embed="rId1"/>
          <a:stretch>
            <a:fillRect/>
          </a:stretch>
        </p:blipFill>
        <p:spPr>
          <a:xfrm>
            <a:off x="5806440" y="1444752"/>
            <a:ext cx="5824728" cy="481888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02</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What went into the analysis</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Lichess January 2016 archive, filtered project slice</a:t>
            </a:r>
            <a:endParaRPr lang="en-US" sz="900" dirty="0"/>
          </a:p>
        </p:txBody>
      </p:sp>
      <p:sp>
        <p:nvSpPr>
          <p:cNvPr id="5" name="Text 3"/>
          <p:cNvSpPr txBox="1"/>
          <p:nvPr/>
        </p:nvSpPr>
        <p:spPr>
          <a:xfrm>
            <a:off x="640080" y="1737360"/>
            <a:ext cx="3108960" cy="713232"/>
          </a:xfrm>
          <a:prstGeom prst="rect">
            <a:avLst/>
          </a:prstGeom>
          <a:noFill/>
          <a:ln/>
        </p:spPr>
        <p:txBody>
          <a:bodyPr wrap="square" lIns="0" tIns="0" rIns="0" bIns="0" rtlCol="0" anchor="ctr">
            <a:normAutofit/>
          </a:bodyPr>
          <a:lstStyle/>
          <a:p>
            <a:pPr indent="0" marL="0">
              <a:buNone/>
            </a:pPr>
            <a:r>
              <a:rPr lang="en-US" sz="4300" b="1" dirty="0">
                <a:solidFill>
                  <a:srgbClr val="244336"/>
                </a:solidFill>
                <a:latin typeface="Cambria" pitchFamily="34" charset="0"/>
                <a:ea typeface="Cambria" pitchFamily="34" charset="-122"/>
                <a:cs typeface="Cambria" pitchFamily="34" charset="-120"/>
              </a:rPr>
              <a:t>249,505</a:t>
            </a:r>
            <a:endParaRPr lang="en-US" sz="4300" dirty="0"/>
          </a:p>
        </p:txBody>
      </p:sp>
      <p:sp>
        <p:nvSpPr>
          <p:cNvPr id="6" name="Text 4"/>
          <p:cNvSpPr txBox="1"/>
          <p:nvPr/>
        </p:nvSpPr>
        <p:spPr>
          <a:xfrm>
            <a:off x="640080" y="2542032"/>
            <a:ext cx="3108960" cy="50292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filtered games</a:t>
            </a:r>
            <a:endParaRPr lang="en-US" sz="1600" dirty="0"/>
          </a:p>
        </p:txBody>
      </p:sp>
      <p:sp>
        <p:nvSpPr>
          <p:cNvPr id="7" name="Text 5"/>
          <p:cNvSpPr txBox="1"/>
          <p:nvPr/>
        </p:nvSpPr>
        <p:spPr>
          <a:xfrm>
            <a:off x="4407408" y="1737360"/>
            <a:ext cx="2926080" cy="713232"/>
          </a:xfrm>
          <a:prstGeom prst="rect">
            <a:avLst/>
          </a:prstGeom>
          <a:noFill/>
          <a:ln/>
        </p:spPr>
        <p:txBody>
          <a:bodyPr wrap="square" lIns="0" tIns="0" rIns="0" bIns="0" rtlCol="0" anchor="ctr">
            <a:normAutofit/>
          </a:bodyPr>
          <a:lstStyle/>
          <a:p>
            <a:pPr indent="0" marL="0">
              <a:buNone/>
            </a:pPr>
            <a:r>
              <a:rPr lang="en-US" sz="4300" b="1" dirty="0">
                <a:solidFill>
                  <a:srgbClr val="244336"/>
                </a:solidFill>
                <a:latin typeface="Cambria" pitchFamily="34" charset="0"/>
                <a:ea typeface="Cambria" pitchFamily="34" charset="-122"/>
                <a:cs typeface="Cambria" pitchFamily="34" charset="-120"/>
              </a:rPr>
              <a:t>6,881</a:t>
            </a:r>
            <a:endParaRPr lang="en-US" sz="4300" dirty="0"/>
          </a:p>
        </p:txBody>
      </p:sp>
      <p:sp>
        <p:nvSpPr>
          <p:cNvPr id="8" name="Text 6"/>
          <p:cNvSpPr txBox="1"/>
          <p:nvPr/>
        </p:nvSpPr>
        <p:spPr>
          <a:xfrm>
            <a:off x="4407408" y="2542032"/>
            <a:ext cx="2926080" cy="50292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players</a:t>
            </a:r>
            <a:endParaRPr lang="en-US" sz="1600" dirty="0"/>
          </a:p>
        </p:txBody>
      </p:sp>
      <p:sp>
        <p:nvSpPr>
          <p:cNvPr id="9" name="Text 7"/>
          <p:cNvSpPr txBox="1"/>
          <p:nvPr/>
        </p:nvSpPr>
        <p:spPr>
          <a:xfrm>
            <a:off x="8549640" y="1737360"/>
            <a:ext cx="2926080" cy="713232"/>
          </a:xfrm>
          <a:prstGeom prst="rect">
            <a:avLst/>
          </a:prstGeom>
          <a:noFill/>
          <a:ln/>
        </p:spPr>
        <p:txBody>
          <a:bodyPr wrap="square" lIns="0" tIns="0" rIns="0" bIns="0" rtlCol="0" anchor="ctr">
            <a:normAutofit/>
          </a:bodyPr>
          <a:lstStyle/>
          <a:p>
            <a:pPr indent="0" marL="0">
              <a:buNone/>
            </a:pPr>
            <a:r>
              <a:rPr lang="en-US" sz="4300" b="1" dirty="0">
                <a:solidFill>
                  <a:srgbClr val="244336"/>
                </a:solidFill>
                <a:latin typeface="Cambria" pitchFamily="34" charset="0"/>
                <a:ea typeface="Cambria" pitchFamily="34" charset="-122"/>
                <a:cs typeface="Cambria" pitchFamily="34" charset="-120"/>
              </a:rPr>
              <a:t>40</a:t>
            </a:r>
            <a:endParaRPr lang="en-US" sz="4300" dirty="0"/>
          </a:p>
        </p:txBody>
      </p:sp>
      <p:sp>
        <p:nvSpPr>
          <p:cNvPr id="10" name="Text 8"/>
          <p:cNvSpPr txBox="1"/>
          <p:nvPr/>
        </p:nvSpPr>
        <p:spPr>
          <a:xfrm>
            <a:off x="8549640" y="2542032"/>
            <a:ext cx="2926080" cy="50292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ECO opening codes</a:t>
            </a:r>
            <a:endParaRPr lang="en-US" sz="1600" dirty="0"/>
          </a:p>
        </p:txBody>
      </p:sp>
      <p:sp>
        <p:nvSpPr>
          <p:cNvPr id="11" name="Text 9"/>
          <p:cNvSpPr txBox="1"/>
          <p:nvPr/>
        </p:nvSpPr>
        <p:spPr>
          <a:xfrm>
            <a:off x="640080" y="3767328"/>
            <a:ext cx="2103120" cy="329184"/>
          </a:xfrm>
          <a:prstGeom prst="rect">
            <a:avLst/>
          </a:prstGeom>
          <a:noFill/>
          <a:ln/>
        </p:spPr>
        <p:txBody>
          <a:bodyPr wrap="square" lIns="0" tIns="0" rIns="0" bIns="0" rtlCol="0" anchor="ctr">
            <a:normAutofit/>
          </a:bodyPr>
          <a:lstStyle/>
          <a:p>
            <a:pPr indent="0" marL="0">
              <a:buNone/>
            </a:pPr>
            <a:r>
              <a:rPr lang="en-US" sz="1700" b="1" dirty="0">
                <a:solidFill>
                  <a:srgbClr val="244336"/>
                </a:solidFill>
                <a:latin typeface="Arial" pitchFamily="34" charset="0"/>
                <a:ea typeface="Arial" pitchFamily="34" charset="-122"/>
                <a:cs typeface="Arial" pitchFamily="34" charset="-120"/>
              </a:rPr>
              <a:t>Selection rules</a:t>
            </a:r>
            <a:endParaRPr lang="en-US" sz="1700" dirty="0"/>
          </a:p>
        </p:txBody>
      </p:sp>
      <p:sp>
        <p:nvSpPr>
          <p:cNvPr id="12" name="Text 10"/>
          <p:cNvSpPr txBox="1"/>
          <p:nvPr/>
        </p:nvSpPr>
        <p:spPr>
          <a:xfrm>
            <a:off x="640080" y="4233672"/>
            <a:ext cx="5760720" cy="1005840"/>
          </a:xfrm>
          <a:prstGeom prst="rect">
            <a:avLst/>
          </a:prstGeom>
          <a:noFill/>
          <a:ln/>
        </p:spPr>
        <p:txBody>
          <a:bodyPr wrap="square" lIns="0" tIns="0" rIns="0" bIns="0" rtlCol="0" anchor="ctr">
            <a:normAutofit/>
          </a:bodyPr>
          <a:lstStyle/>
          <a:p>
            <a:pPr indent="0" marL="0">
              <a:buNone/>
            </a:pPr>
            <a:r>
              <a:rPr lang="en-US" sz="2000" dirty="0">
                <a:solidFill>
                  <a:srgbClr val="20241F"/>
                </a:solidFill>
                <a:latin typeface="Arial" pitchFamily="34" charset="0"/>
                <a:ea typeface="Arial" pitchFamily="34" charset="-122"/>
                <a:cs typeface="Arial" pitchFamily="34" charset="-120"/>
              </a:rPr>
              <a:t>Rated games within the 1800–2200 Elo band, eligible speeds, common ECO codes, and sufficiently active players.</a:t>
            </a:r>
            <a:endParaRPr lang="en-US" sz="2000" dirty="0"/>
          </a:p>
        </p:txBody>
      </p:sp>
      <p:sp>
        <p:nvSpPr>
          <p:cNvPr id="13" name="Text 11"/>
          <p:cNvSpPr txBox="1"/>
          <p:nvPr/>
        </p:nvSpPr>
        <p:spPr>
          <a:xfrm>
            <a:off x="6995160" y="4069080"/>
            <a:ext cx="4206240" cy="1417320"/>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The live classroom run uses a fixed 60,000-game sample from this slice. The results in this deck use the full 249,505-game analysis.</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03</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How an exposure becomes a trial</a:t>
            </a:r>
            <a:endParaRPr lang="en-US" sz="3300" dirty="0"/>
          </a:p>
        </p:txBody>
      </p:sp>
      <p:sp>
        <p:nvSpPr>
          <p:cNvPr id="4" name="Text 2"/>
          <p:cNvSpPr txBox="1"/>
          <p:nvPr/>
        </p:nvSpPr>
        <p:spPr>
          <a:xfrm>
            <a:off x="640080" y="1600200"/>
            <a:ext cx="640080" cy="457200"/>
          </a:xfrm>
          <a:prstGeom prst="rect">
            <a:avLst/>
          </a:prstGeom>
          <a:noFill/>
          <a:ln/>
        </p:spPr>
        <p:txBody>
          <a:bodyPr wrap="square" lIns="0" tIns="0" rIns="0" bIns="0" rtlCol="0" anchor="ctr">
            <a:normAutofit/>
          </a:bodyPr>
          <a:lstStyle/>
          <a:p>
            <a:pPr indent="0" marL="0">
              <a:buNone/>
            </a:pPr>
            <a:r>
              <a:rPr lang="en-US" sz="2600" b="1" dirty="0">
                <a:solidFill>
                  <a:srgbClr val="D3A64A"/>
                </a:solidFill>
                <a:latin typeface="Cambria" pitchFamily="34" charset="0"/>
                <a:ea typeface="Cambria" pitchFamily="34" charset="-122"/>
                <a:cs typeface="Cambria" pitchFamily="34" charset="-120"/>
              </a:rPr>
              <a:t>01</a:t>
            </a:r>
            <a:endParaRPr lang="en-US" sz="2600" dirty="0"/>
          </a:p>
        </p:txBody>
      </p:sp>
      <p:sp>
        <p:nvSpPr>
          <p:cNvPr id="5" name="Text 3"/>
          <p:cNvSpPr txBox="1"/>
          <p:nvPr/>
        </p:nvSpPr>
        <p:spPr>
          <a:xfrm>
            <a:off x="1417320" y="1600200"/>
            <a:ext cx="2011680" cy="384048"/>
          </a:xfrm>
          <a:prstGeom prst="rect">
            <a:avLst/>
          </a:prstGeom>
          <a:noFill/>
          <a:ln/>
        </p:spPr>
        <p:txBody>
          <a:bodyPr wrap="square" lIns="0" tIns="0" rIns="0" bIns="0" rtlCol="0" anchor="ctr">
            <a:normAutofit/>
          </a:bodyPr>
          <a:lstStyle/>
          <a:p>
            <a:pPr indent="0" marL="0">
              <a:buNone/>
            </a:pPr>
            <a:r>
              <a:rPr lang="en-US" sz="2300" b="1" dirty="0">
                <a:solidFill>
                  <a:srgbClr val="244336"/>
                </a:solidFill>
                <a:latin typeface="Arial" pitchFamily="34" charset="0"/>
                <a:ea typeface="Arial" pitchFamily="34" charset="-122"/>
                <a:cs typeface="Arial" pitchFamily="34" charset="-120"/>
              </a:rPr>
              <a:t>Encounter</a:t>
            </a:r>
            <a:endParaRPr lang="en-US" sz="2300" dirty="0"/>
          </a:p>
        </p:txBody>
      </p:sp>
      <p:sp>
        <p:nvSpPr>
          <p:cNvPr id="6" name="Text 4"/>
          <p:cNvSpPr txBox="1"/>
          <p:nvPr/>
        </p:nvSpPr>
        <p:spPr>
          <a:xfrm>
            <a:off x="3657600" y="1581912"/>
            <a:ext cx="7315200" cy="658368"/>
          </a:xfrm>
          <a:prstGeom prst="rect">
            <a:avLst/>
          </a:prstGeom>
          <a:noFill/>
          <a:ln/>
        </p:spPr>
        <p:txBody>
          <a:bodyPr wrap="square" lIns="0" tIns="0" rIns="0" bIns="0" rtlCol="0" anchor="ctr">
            <a:normAutofit/>
          </a:bodyPr>
          <a:lstStyle/>
          <a:p>
            <a:pPr indent="0" marL="0">
              <a:buNone/>
            </a:pPr>
            <a:r>
              <a:rPr lang="en-US" sz="1900" dirty="0">
                <a:solidFill>
                  <a:srgbClr val="20241F"/>
                </a:solidFill>
                <a:latin typeface="Arial" pitchFamily="34" charset="0"/>
                <a:ea typeface="Arial" pitchFamily="34" charset="-122"/>
                <a:cs typeface="Arial" pitchFamily="34" charset="-120"/>
              </a:rPr>
              <a:t>An opponent plays an opening against a player.</a:t>
            </a:r>
            <a:endParaRPr lang="en-US" sz="1900" dirty="0"/>
          </a:p>
        </p:txBody>
      </p:sp>
      <p:sp>
        <p:nvSpPr>
          <p:cNvPr id="7" name="Text 5"/>
          <p:cNvSpPr txBox="1"/>
          <p:nvPr/>
        </p:nvSpPr>
        <p:spPr>
          <a:xfrm>
            <a:off x="640080" y="3108960"/>
            <a:ext cx="640080" cy="457200"/>
          </a:xfrm>
          <a:prstGeom prst="rect">
            <a:avLst/>
          </a:prstGeom>
          <a:noFill/>
          <a:ln/>
        </p:spPr>
        <p:txBody>
          <a:bodyPr wrap="square" lIns="0" tIns="0" rIns="0" bIns="0" rtlCol="0" anchor="ctr">
            <a:normAutofit/>
          </a:bodyPr>
          <a:lstStyle/>
          <a:p>
            <a:pPr indent="0" marL="0">
              <a:buNone/>
            </a:pPr>
            <a:r>
              <a:rPr lang="en-US" sz="2600" b="1" dirty="0">
                <a:solidFill>
                  <a:srgbClr val="D3A64A"/>
                </a:solidFill>
                <a:latin typeface="Cambria" pitchFamily="34" charset="0"/>
                <a:ea typeface="Cambria" pitchFamily="34" charset="-122"/>
                <a:cs typeface="Cambria" pitchFamily="34" charset="-120"/>
              </a:rPr>
              <a:t>02</a:t>
            </a:r>
            <a:endParaRPr lang="en-US" sz="2600" dirty="0"/>
          </a:p>
        </p:txBody>
      </p:sp>
      <p:sp>
        <p:nvSpPr>
          <p:cNvPr id="8" name="Text 6"/>
          <p:cNvSpPr txBox="1"/>
          <p:nvPr/>
        </p:nvSpPr>
        <p:spPr>
          <a:xfrm>
            <a:off x="1417320" y="3108960"/>
            <a:ext cx="2011680" cy="384048"/>
          </a:xfrm>
          <a:prstGeom prst="rect">
            <a:avLst/>
          </a:prstGeom>
          <a:noFill/>
          <a:ln/>
        </p:spPr>
        <p:txBody>
          <a:bodyPr wrap="square" lIns="0" tIns="0" rIns="0" bIns="0" rtlCol="0" anchor="ctr">
            <a:normAutofit/>
          </a:bodyPr>
          <a:lstStyle/>
          <a:p>
            <a:pPr indent="0" marL="0">
              <a:buNone/>
            </a:pPr>
            <a:r>
              <a:rPr lang="en-US" sz="2300" b="1" dirty="0">
                <a:solidFill>
                  <a:srgbClr val="244336"/>
                </a:solidFill>
                <a:latin typeface="Arial" pitchFamily="34" charset="0"/>
                <a:ea typeface="Arial" pitchFamily="34" charset="-122"/>
                <a:cs typeface="Arial" pitchFamily="34" charset="-120"/>
              </a:rPr>
              <a:t>Follow-up</a:t>
            </a:r>
            <a:endParaRPr lang="en-US" sz="2300" dirty="0"/>
          </a:p>
        </p:txBody>
      </p:sp>
      <p:sp>
        <p:nvSpPr>
          <p:cNvPr id="9" name="Text 7"/>
          <p:cNvSpPr txBox="1"/>
          <p:nvPr/>
        </p:nvSpPr>
        <p:spPr>
          <a:xfrm>
            <a:off x="3657600" y="3090672"/>
            <a:ext cx="7315200" cy="658368"/>
          </a:xfrm>
          <a:prstGeom prst="rect">
            <a:avLst/>
          </a:prstGeom>
          <a:noFill/>
          <a:ln/>
        </p:spPr>
        <p:txBody>
          <a:bodyPr wrap="square" lIns="0" tIns="0" rIns="0" bIns="0" rtlCol="0" anchor="ctr">
            <a:normAutofit/>
          </a:bodyPr>
          <a:lstStyle/>
          <a:p>
            <a:pPr indent="0" marL="0">
              <a:buNone/>
            </a:pPr>
            <a:r>
              <a:rPr lang="en-US" sz="1900" dirty="0">
                <a:solidFill>
                  <a:srgbClr val="20241F"/>
                </a:solidFill>
                <a:latin typeface="Arial" pitchFamily="34" charset="0"/>
                <a:ea typeface="Arial" pitchFamily="34" charset="-122"/>
                <a:cs typeface="Arial" pitchFamily="34" charset="-120"/>
              </a:rPr>
              <a:t>We watch the next 14 days for that player and opening.</a:t>
            </a:r>
            <a:endParaRPr lang="en-US" sz="1900" dirty="0"/>
          </a:p>
        </p:txBody>
      </p:sp>
      <p:sp>
        <p:nvSpPr>
          <p:cNvPr id="10" name="Text 8"/>
          <p:cNvSpPr txBox="1"/>
          <p:nvPr/>
        </p:nvSpPr>
        <p:spPr>
          <a:xfrm>
            <a:off x="640080" y="4617720"/>
            <a:ext cx="640080" cy="457200"/>
          </a:xfrm>
          <a:prstGeom prst="rect">
            <a:avLst/>
          </a:prstGeom>
          <a:noFill/>
          <a:ln/>
        </p:spPr>
        <p:txBody>
          <a:bodyPr wrap="square" lIns="0" tIns="0" rIns="0" bIns="0" rtlCol="0" anchor="ctr">
            <a:normAutofit/>
          </a:bodyPr>
          <a:lstStyle/>
          <a:p>
            <a:pPr indent="0" marL="0">
              <a:buNone/>
            </a:pPr>
            <a:r>
              <a:rPr lang="en-US" sz="2600" b="1" dirty="0">
                <a:solidFill>
                  <a:srgbClr val="D3A64A"/>
                </a:solidFill>
                <a:latin typeface="Cambria" pitchFamily="34" charset="0"/>
                <a:ea typeface="Cambria" pitchFamily="34" charset="-122"/>
                <a:cs typeface="Cambria" pitchFamily="34" charset="-120"/>
              </a:rPr>
              <a:t>03</a:t>
            </a:r>
            <a:endParaRPr lang="en-US" sz="2600" dirty="0"/>
          </a:p>
        </p:txBody>
      </p:sp>
      <p:sp>
        <p:nvSpPr>
          <p:cNvPr id="11" name="Text 9"/>
          <p:cNvSpPr txBox="1"/>
          <p:nvPr/>
        </p:nvSpPr>
        <p:spPr>
          <a:xfrm>
            <a:off x="1417320" y="4617720"/>
            <a:ext cx="2011680" cy="384048"/>
          </a:xfrm>
          <a:prstGeom prst="rect">
            <a:avLst/>
          </a:prstGeom>
          <a:noFill/>
          <a:ln/>
        </p:spPr>
        <p:txBody>
          <a:bodyPr wrap="square" lIns="0" tIns="0" rIns="0" bIns="0" rtlCol="0" anchor="ctr">
            <a:normAutofit/>
          </a:bodyPr>
          <a:lstStyle/>
          <a:p>
            <a:pPr indent="0" marL="0">
              <a:buNone/>
            </a:pPr>
            <a:r>
              <a:rPr lang="en-US" sz="2300" b="1" dirty="0">
                <a:solidFill>
                  <a:srgbClr val="244336"/>
                </a:solidFill>
                <a:latin typeface="Arial" pitchFamily="34" charset="0"/>
                <a:ea typeface="Arial" pitchFamily="34" charset="-122"/>
                <a:cs typeface="Arial" pitchFamily="34" charset="-120"/>
              </a:rPr>
              <a:t>Outcome</a:t>
            </a:r>
            <a:endParaRPr lang="en-US" sz="2300" dirty="0"/>
          </a:p>
        </p:txBody>
      </p:sp>
      <p:sp>
        <p:nvSpPr>
          <p:cNvPr id="12" name="Text 10"/>
          <p:cNvSpPr txBox="1"/>
          <p:nvPr/>
        </p:nvSpPr>
        <p:spPr>
          <a:xfrm>
            <a:off x="3657600" y="4599432"/>
            <a:ext cx="7315200" cy="658368"/>
          </a:xfrm>
          <a:prstGeom prst="rect">
            <a:avLst/>
          </a:prstGeom>
          <a:noFill/>
          <a:ln/>
        </p:spPr>
        <p:txBody>
          <a:bodyPr wrap="square" lIns="0" tIns="0" rIns="0" bIns="0" rtlCol="0" anchor="ctr">
            <a:normAutofit/>
          </a:bodyPr>
          <a:lstStyle/>
          <a:p>
            <a:pPr indent="0" marL="0">
              <a:buNone/>
            </a:pPr>
            <a:r>
              <a:rPr lang="en-US" sz="1900" dirty="0">
                <a:solidFill>
                  <a:srgbClr val="20241F"/>
                </a:solidFill>
                <a:latin typeface="Arial" pitchFamily="34" charset="0"/>
                <a:ea typeface="Arial" pitchFamily="34" charset="-122"/>
                <a:cs typeface="Arial" pitchFamily="34" charset="-120"/>
              </a:rPr>
              <a:t>The player later uses the same opening and colour.</a:t>
            </a:r>
            <a:endParaRPr lang="en-US" sz="1900" dirty="0"/>
          </a:p>
        </p:txBody>
      </p:sp>
      <p:sp>
        <p:nvSpPr>
          <p:cNvPr id="13" name="Text 11"/>
          <p:cNvSpPr txBox="1"/>
          <p:nvPr/>
        </p:nvSpPr>
        <p:spPr>
          <a:xfrm>
            <a:off x="640080" y="6217920"/>
            <a:ext cx="10607040" cy="310896"/>
          </a:xfrm>
          <a:prstGeom prst="rect">
            <a:avLst/>
          </a:prstGeom>
          <a:noFill/>
          <a:ln/>
        </p:spPr>
        <p:txBody>
          <a:bodyPr wrap="square" lIns="0" tIns="0" rIns="0" bIns="0" rtlCol="0" anchor="ctr">
            <a:normAutofit/>
          </a:bodyPr>
          <a:lstStyle/>
          <a:p>
            <a:pPr indent="0" marL="0">
              <a:buNone/>
            </a:pPr>
            <a:r>
              <a:rPr lang="en-US" sz="1400" dirty="0">
                <a:solidFill>
                  <a:srgbClr val="58685D"/>
                </a:solidFill>
                <a:latin typeface="Arial" pitchFamily="34" charset="0"/>
                <a:ea typeface="Arial" pitchFamily="34" charset="-122"/>
                <a:cs typeface="Arial" pitchFamily="34" charset="-120"/>
              </a:rPr>
              <a:t>Only trials with the complete observation window enter the reported curve.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44336"/>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D8E3D6"/>
                </a:solidFill>
                <a:latin typeface="Arial" pitchFamily="34" charset="0"/>
                <a:ea typeface="Arial" pitchFamily="34" charset="-122"/>
                <a:cs typeface="Arial" pitchFamily="34" charset="-120"/>
              </a:rPr>
              <a:t>04</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FFFFFF"/>
                </a:solidFill>
                <a:latin typeface="Cambria" pitchFamily="34" charset="0"/>
                <a:ea typeface="Cambria" pitchFamily="34" charset="-122"/>
                <a:cs typeface="Cambria" pitchFamily="34" charset="-120"/>
              </a:rPr>
              <a:t>From games to a testable curve</a:t>
            </a:r>
            <a:endParaRPr lang="en-US" sz="3300" dirty="0"/>
          </a:p>
        </p:txBody>
      </p:sp>
      <p:sp>
        <p:nvSpPr>
          <p:cNvPr id="4" name="Text 2"/>
          <p:cNvSpPr txBox="1"/>
          <p:nvPr/>
        </p:nvSpPr>
        <p:spPr>
          <a:xfrm>
            <a:off x="640080" y="1691640"/>
            <a:ext cx="2423160" cy="411480"/>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01</a:t>
            </a:r>
            <a:endParaRPr lang="en-US" sz="2300" dirty="0"/>
          </a:p>
        </p:txBody>
      </p:sp>
      <p:sp>
        <p:nvSpPr>
          <p:cNvPr id="5" name="Text 3"/>
          <p:cNvSpPr txBox="1"/>
          <p:nvPr/>
        </p:nvSpPr>
        <p:spPr>
          <a:xfrm>
            <a:off x="640080" y="2423160"/>
            <a:ext cx="2468880" cy="475488"/>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Games</a:t>
            </a:r>
            <a:endParaRPr lang="en-US" sz="2600" dirty="0"/>
          </a:p>
        </p:txBody>
      </p:sp>
      <p:sp>
        <p:nvSpPr>
          <p:cNvPr id="6" name="Text 4"/>
          <p:cNvSpPr txBox="1"/>
          <p:nvPr/>
        </p:nvSpPr>
        <p:spPr>
          <a:xfrm>
            <a:off x="640080" y="3145536"/>
            <a:ext cx="2423160" cy="914400"/>
          </a:xfrm>
          <a:prstGeom prst="rect">
            <a:avLst/>
          </a:prstGeom>
          <a:noFill/>
          <a:ln/>
        </p:spPr>
        <p:txBody>
          <a:bodyPr wrap="square" lIns="0" tIns="0" rIns="0" bIns="0" rtlCol="0" anchor="ctr">
            <a:normAutofit/>
          </a:bodyPr>
          <a:lstStyle/>
          <a:p>
            <a:pPr indent="0" marL="0">
              <a:buNone/>
            </a:pPr>
            <a:r>
              <a:rPr lang="en-US" sz="1800" dirty="0">
                <a:solidFill>
                  <a:srgbClr val="DDE6DC"/>
                </a:solidFill>
                <a:latin typeface="Arial" pitchFamily="34" charset="0"/>
                <a:ea typeface="Arial" pitchFamily="34" charset="-122"/>
                <a:cs typeface="Arial" pitchFamily="34" charset="-120"/>
              </a:rPr>
              <a:t>PGN records</a:t>
            </a:r>
            <a:endParaRPr lang="en-US" sz="1800" dirty="0"/>
          </a:p>
          <a:p>
            <a:pPr indent="0" marL="0">
              <a:buNone/>
            </a:pPr>
            <a:r>
              <a:rPr lang="en-US" sz="1800" dirty="0">
                <a:solidFill>
                  <a:srgbClr val="DDE6DC"/>
                </a:solidFill>
                <a:latin typeface="Arial" pitchFamily="34" charset="0"/>
                <a:ea typeface="Arial" pitchFamily="34" charset="-122"/>
                <a:cs typeface="Arial" pitchFamily="34" charset="-120"/>
              </a:rPr>
              <a:t>with timestamps</a:t>
            </a:r>
            <a:endParaRPr lang="en-US" sz="1800" dirty="0"/>
          </a:p>
        </p:txBody>
      </p:sp>
      <p:sp>
        <p:nvSpPr>
          <p:cNvPr id="7" name="Text 5"/>
          <p:cNvSpPr txBox="1"/>
          <p:nvPr/>
        </p:nvSpPr>
        <p:spPr>
          <a:xfrm>
            <a:off x="3520440" y="1691640"/>
            <a:ext cx="2423160" cy="411480"/>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02</a:t>
            </a:r>
            <a:endParaRPr lang="en-US" sz="2300" dirty="0"/>
          </a:p>
        </p:txBody>
      </p:sp>
      <p:sp>
        <p:nvSpPr>
          <p:cNvPr id="8" name="Text 6"/>
          <p:cNvSpPr txBox="1"/>
          <p:nvPr/>
        </p:nvSpPr>
        <p:spPr>
          <a:xfrm>
            <a:off x="3520440" y="2423160"/>
            <a:ext cx="2468880" cy="475488"/>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Trials</a:t>
            </a:r>
            <a:endParaRPr lang="en-US" sz="2600" dirty="0"/>
          </a:p>
        </p:txBody>
      </p:sp>
      <p:sp>
        <p:nvSpPr>
          <p:cNvPr id="9" name="Text 7"/>
          <p:cNvSpPr txBox="1"/>
          <p:nvPr/>
        </p:nvSpPr>
        <p:spPr>
          <a:xfrm>
            <a:off x="3520440" y="3145536"/>
            <a:ext cx="2423160" cy="914400"/>
          </a:xfrm>
          <a:prstGeom prst="rect">
            <a:avLst/>
          </a:prstGeom>
          <a:noFill/>
          <a:ln/>
        </p:spPr>
        <p:txBody>
          <a:bodyPr wrap="square" lIns="0" tIns="0" rIns="0" bIns="0" rtlCol="0" anchor="ctr">
            <a:normAutofit/>
          </a:bodyPr>
          <a:lstStyle/>
          <a:p>
            <a:pPr indent="0" marL="0">
              <a:buNone/>
            </a:pPr>
            <a:r>
              <a:rPr lang="en-US" sz="1800" dirty="0">
                <a:solidFill>
                  <a:srgbClr val="DDE6DC"/>
                </a:solidFill>
                <a:latin typeface="Arial" pitchFamily="34" charset="0"/>
                <a:ea typeface="Arial" pitchFamily="34" charset="-122"/>
                <a:cs typeface="Arial" pitchFamily="34" charset="-120"/>
              </a:rPr>
              <a:t>exposure and</a:t>
            </a:r>
            <a:endParaRPr lang="en-US" sz="1800" dirty="0"/>
          </a:p>
          <a:p>
            <a:pPr indent="0" marL="0">
              <a:buNone/>
            </a:pPr>
            <a:r>
              <a:rPr lang="en-US" sz="1800" dirty="0">
                <a:solidFill>
                  <a:srgbClr val="DDE6DC"/>
                </a:solidFill>
                <a:latin typeface="Arial" pitchFamily="34" charset="0"/>
                <a:ea typeface="Arial" pitchFamily="34" charset="-122"/>
                <a:cs typeface="Arial" pitchFamily="34" charset="-120"/>
              </a:rPr>
              <a:t>adoption windows</a:t>
            </a:r>
            <a:endParaRPr lang="en-US" sz="1800" dirty="0"/>
          </a:p>
        </p:txBody>
      </p:sp>
      <p:sp>
        <p:nvSpPr>
          <p:cNvPr id="10" name="Text 8"/>
          <p:cNvSpPr txBox="1"/>
          <p:nvPr/>
        </p:nvSpPr>
        <p:spPr>
          <a:xfrm>
            <a:off x="6400800" y="1691640"/>
            <a:ext cx="2423160" cy="411480"/>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03</a:t>
            </a:r>
            <a:endParaRPr lang="en-US" sz="2300" dirty="0"/>
          </a:p>
        </p:txBody>
      </p:sp>
      <p:sp>
        <p:nvSpPr>
          <p:cNvPr id="11" name="Text 9"/>
          <p:cNvSpPr txBox="1"/>
          <p:nvPr/>
        </p:nvSpPr>
        <p:spPr>
          <a:xfrm>
            <a:off x="6400800" y="2423160"/>
            <a:ext cx="2468880" cy="475488"/>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Network</a:t>
            </a:r>
            <a:endParaRPr lang="en-US" sz="2600" dirty="0"/>
          </a:p>
        </p:txBody>
      </p:sp>
      <p:sp>
        <p:nvSpPr>
          <p:cNvPr id="12" name="Text 10"/>
          <p:cNvSpPr txBox="1"/>
          <p:nvPr/>
        </p:nvSpPr>
        <p:spPr>
          <a:xfrm>
            <a:off x="6400800" y="3145536"/>
            <a:ext cx="2423160" cy="914400"/>
          </a:xfrm>
          <a:prstGeom prst="rect">
            <a:avLst/>
          </a:prstGeom>
          <a:noFill/>
          <a:ln/>
        </p:spPr>
        <p:txBody>
          <a:bodyPr wrap="square" lIns="0" tIns="0" rIns="0" bIns="0" rtlCol="0" anchor="ctr">
            <a:normAutofit/>
          </a:bodyPr>
          <a:lstStyle/>
          <a:p>
            <a:pPr indent="0" marL="0">
              <a:buNone/>
            </a:pPr>
            <a:r>
              <a:rPr lang="en-US" sz="1800" dirty="0">
                <a:solidFill>
                  <a:srgbClr val="DDE6DC"/>
                </a:solidFill>
                <a:latin typeface="Arial" pitchFamily="34" charset="0"/>
                <a:ea typeface="Arial" pitchFamily="34" charset="-122"/>
                <a:cs typeface="Arial" pitchFamily="34" charset="-120"/>
              </a:rPr>
              <a:t>who played</a:t>
            </a:r>
            <a:endParaRPr lang="en-US" sz="1800" dirty="0"/>
          </a:p>
          <a:p>
            <a:pPr indent="0" marL="0">
              <a:buNone/>
            </a:pPr>
            <a:r>
              <a:rPr lang="en-US" sz="1800" dirty="0">
                <a:solidFill>
                  <a:srgbClr val="DDE6DC"/>
                </a:solidFill>
                <a:latin typeface="Arial" pitchFamily="34" charset="0"/>
                <a:ea typeface="Arial" pitchFamily="34" charset="-122"/>
                <a:cs typeface="Arial" pitchFamily="34" charset="-120"/>
              </a:rPr>
              <a:t>whom</a:t>
            </a:r>
            <a:endParaRPr lang="en-US" sz="1800" dirty="0"/>
          </a:p>
        </p:txBody>
      </p:sp>
      <p:sp>
        <p:nvSpPr>
          <p:cNvPr id="13" name="Text 11"/>
          <p:cNvSpPr txBox="1"/>
          <p:nvPr/>
        </p:nvSpPr>
        <p:spPr>
          <a:xfrm>
            <a:off x="9281160" y="1691640"/>
            <a:ext cx="2423160" cy="411480"/>
          </a:xfrm>
          <a:prstGeom prst="rect">
            <a:avLst/>
          </a:prstGeom>
          <a:noFill/>
          <a:ln/>
        </p:spPr>
        <p:txBody>
          <a:bodyPr wrap="square" lIns="0" tIns="0" rIns="0" bIns="0" rtlCol="0" anchor="ctr">
            <a:normAutofit/>
          </a:bodyPr>
          <a:lstStyle/>
          <a:p>
            <a:pPr indent="0" marL="0">
              <a:buNone/>
            </a:pPr>
            <a:r>
              <a:rPr lang="en-US" sz="2300" b="1" dirty="0">
                <a:solidFill>
                  <a:srgbClr val="D3A64A"/>
                </a:solidFill>
                <a:latin typeface="Cambria" pitchFamily="34" charset="0"/>
                <a:ea typeface="Cambria" pitchFamily="34" charset="-122"/>
                <a:cs typeface="Cambria" pitchFamily="34" charset="-120"/>
              </a:rPr>
              <a:t>04</a:t>
            </a:r>
            <a:endParaRPr lang="en-US" sz="2300" dirty="0"/>
          </a:p>
        </p:txBody>
      </p:sp>
      <p:sp>
        <p:nvSpPr>
          <p:cNvPr id="14" name="Text 12"/>
          <p:cNvSpPr txBox="1"/>
          <p:nvPr/>
        </p:nvSpPr>
        <p:spPr>
          <a:xfrm>
            <a:off x="9281160" y="2423160"/>
            <a:ext cx="2468880" cy="475488"/>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Cambria" pitchFamily="34" charset="0"/>
                <a:ea typeface="Cambria" pitchFamily="34" charset="-122"/>
                <a:cs typeface="Cambria" pitchFamily="34" charset="-120"/>
              </a:rPr>
              <a:t>Checks</a:t>
            </a:r>
            <a:endParaRPr lang="en-US" sz="2600" dirty="0"/>
          </a:p>
        </p:txBody>
      </p:sp>
      <p:sp>
        <p:nvSpPr>
          <p:cNvPr id="15" name="Text 13"/>
          <p:cNvSpPr txBox="1"/>
          <p:nvPr/>
        </p:nvSpPr>
        <p:spPr>
          <a:xfrm>
            <a:off x="9281160" y="3145536"/>
            <a:ext cx="2423160" cy="914400"/>
          </a:xfrm>
          <a:prstGeom prst="rect">
            <a:avLst/>
          </a:prstGeom>
          <a:noFill/>
          <a:ln/>
        </p:spPr>
        <p:txBody>
          <a:bodyPr wrap="square" lIns="0" tIns="0" rIns="0" bIns="0" rtlCol="0" anchor="ctr">
            <a:normAutofit/>
          </a:bodyPr>
          <a:lstStyle/>
          <a:p>
            <a:pPr indent="0" marL="0">
              <a:buNone/>
            </a:pPr>
            <a:r>
              <a:rPr lang="en-US" sz="1800" dirty="0">
                <a:solidFill>
                  <a:srgbClr val="DDE6DC"/>
                </a:solidFill>
                <a:latin typeface="Arial" pitchFamily="34" charset="0"/>
                <a:ea typeface="Arial" pitchFamily="34" charset="-122"/>
                <a:cs typeface="Arial" pitchFamily="34" charset="-120"/>
              </a:rPr>
              <a:t>shuffled time</a:t>
            </a:r>
            <a:endParaRPr lang="en-US" sz="1800" dirty="0"/>
          </a:p>
          <a:p>
            <a:pPr indent="0" marL="0">
              <a:buNone/>
            </a:pPr>
            <a:r>
              <a:rPr lang="en-US" sz="1800" dirty="0">
                <a:solidFill>
                  <a:srgbClr val="DDE6DC"/>
                </a:solidFill>
                <a:latin typeface="Arial" pitchFamily="34" charset="0"/>
                <a:ea typeface="Arial" pitchFamily="34" charset="-122"/>
                <a:cs typeface="Arial" pitchFamily="34" charset="-120"/>
              </a:rPr>
              <a:t>and matched peers</a:t>
            </a:r>
            <a:endParaRPr lang="en-US" sz="1800" dirty="0"/>
          </a:p>
        </p:txBody>
      </p:sp>
      <p:sp>
        <p:nvSpPr>
          <p:cNvPr id="16" name="Text 14"/>
          <p:cNvSpPr txBox="1"/>
          <p:nvPr/>
        </p:nvSpPr>
        <p:spPr>
          <a:xfrm>
            <a:off x="640080" y="5276088"/>
            <a:ext cx="10881360" cy="640080"/>
          </a:xfrm>
          <a:prstGeom prst="rect">
            <a:avLst/>
          </a:prstGeom>
          <a:noFill/>
          <a:ln/>
        </p:spPr>
        <p:txBody>
          <a:bodyPr wrap="square" lIns="0" tIns="0" rIns="0" bIns="0" rtlCol="0" anchor="ctr">
            <a:normAutofit/>
          </a:bodyPr>
          <a:lstStyle/>
          <a:p>
            <a:pPr indent="0" marL="0">
              <a:buNone/>
            </a:pPr>
            <a:r>
              <a:rPr lang="en-US" sz="2100" b="1" dirty="0">
                <a:solidFill>
                  <a:srgbClr val="FFFFFF"/>
                </a:solidFill>
                <a:latin typeface="Arial" pitchFamily="34" charset="0"/>
                <a:ea typeface="Arial" pitchFamily="34" charset="-122"/>
                <a:cs typeface="Arial" pitchFamily="34" charset="-120"/>
              </a:rPr>
              <a:t>Output: observed adoption curve, reference curve, matched comparison and held-out prediction</a:t>
            </a:r>
            <a:endParaRPr lang="en-US" sz="2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05</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player network is large and connected</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results/report.json, January 2016 full slice</a:t>
            </a:r>
            <a:endParaRPr lang="en-US" sz="900" dirty="0"/>
          </a:p>
        </p:txBody>
      </p:sp>
      <p:pic>
        <p:nvPicPr>
          <p:cNvPr id="5" name="Image 0" descr="C:\Users\hridy\Desktop\sna\site\assets\chess-network-hero.png">    </p:cNvPr>
          <p:cNvPicPr>
            <a:picLocks noChangeAspect="1"/>
          </p:cNvPicPr>
          <p:nvPr/>
        </p:nvPicPr>
        <p:blipFill>
          <a:blip r:embed="rId1"/>
          <a:stretch>
            <a:fillRect/>
          </a:stretch>
        </p:blipFill>
        <p:spPr>
          <a:xfrm>
            <a:off x="530352" y="1417320"/>
            <a:ext cx="5715000" cy="4846320"/>
          </a:xfrm>
          <a:prstGeom prst="rect">
            <a:avLst/>
          </a:prstGeom>
        </p:spPr>
      </p:pic>
      <p:sp>
        <p:nvSpPr>
          <p:cNvPr id="6" name="Text 3"/>
          <p:cNvSpPr txBox="1"/>
          <p:nvPr/>
        </p:nvSpPr>
        <p:spPr>
          <a:xfrm>
            <a:off x="6565392" y="1508760"/>
            <a:ext cx="5029200" cy="713232"/>
          </a:xfrm>
          <a:prstGeom prst="rect">
            <a:avLst/>
          </a:prstGeom>
          <a:noFill/>
          <a:ln/>
        </p:spPr>
        <p:txBody>
          <a:bodyPr wrap="square" lIns="0" tIns="0" rIns="0" bIns="0" rtlCol="0" anchor="ctr">
            <a:normAutofit/>
          </a:bodyPr>
          <a:lstStyle/>
          <a:p>
            <a:pPr indent="0" marL="0">
              <a:buNone/>
            </a:pPr>
            <a:r>
              <a:rPr lang="en-US" sz="4300" b="1" dirty="0">
                <a:solidFill>
                  <a:srgbClr val="244336"/>
                </a:solidFill>
                <a:latin typeface="Cambria" pitchFamily="34" charset="0"/>
                <a:ea typeface="Cambria" pitchFamily="34" charset="-122"/>
                <a:cs typeface="Cambria" pitchFamily="34" charset="-120"/>
              </a:rPr>
              <a:t>173,944</a:t>
            </a:r>
            <a:endParaRPr lang="en-US" sz="4300" dirty="0"/>
          </a:p>
        </p:txBody>
      </p:sp>
      <p:sp>
        <p:nvSpPr>
          <p:cNvPr id="7" name="Text 4"/>
          <p:cNvSpPr txBox="1"/>
          <p:nvPr/>
        </p:nvSpPr>
        <p:spPr>
          <a:xfrm>
            <a:off x="6565392" y="2313432"/>
            <a:ext cx="5029200" cy="50292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distinct opponent links</a:t>
            </a:r>
            <a:endParaRPr lang="en-US" sz="1600" dirty="0"/>
          </a:p>
        </p:txBody>
      </p:sp>
      <p:sp>
        <p:nvSpPr>
          <p:cNvPr id="8" name="Text 5"/>
          <p:cNvSpPr txBox="1"/>
          <p:nvPr/>
        </p:nvSpPr>
        <p:spPr>
          <a:xfrm>
            <a:off x="6565392" y="2953512"/>
            <a:ext cx="5029200" cy="713232"/>
          </a:xfrm>
          <a:prstGeom prst="rect">
            <a:avLst/>
          </a:prstGeom>
          <a:noFill/>
          <a:ln/>
        </p:spPr>
        <p:txBody>
          <a:bodyPr wrap="square" lIns="0" tIns="0" rIns="0" bIns="0" rtlCol="0" anchor="ctr">
            <a:normAutofit/>
          </a:bodyPr>
          <a:lstStyle/>
          <a:p>
            <a:pPr indent="0" marL="0">
              <a:buNone/>
            </a:pPr>
            <a:r>
              <a:rPr lang="en-US" sz="4300" b="1" dirty="0">
                <a:solidFill>
                  <a:srgbClr val="244336"/>
                </a:solidFill>
                <a:latin typeface="Cambria" pitchFamily="34" charset="0"/>
                <a:ea typeface="Cambria" pitchFamily="34" charset="-122"/>
                <a:cs typeface="Cambria" pitchFamily="34" charset="-120"/>
              </a:rPr>
              <a:t>5</a:t>
            </a:r>
            <a:endParaRPr lang="en-US" sz="4300" dirty="0"/>
          </a:p>
        </p:txBody>
      </p:sp>
      <p:sp>
        <p:nvSpPr>
          <p:cNvPr id="9" name="Text 6"/>
          <p:cNvSpPr txBox="1"/>
          <p:nvPr/>
        </p:nvSpPr>
        <p:spPr>
          <a:xfrm>
            <a:off x="6565392" y="3758184"/>
            <a:ext cx="5029200" cy="50292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detected communities</a:t>
            </a:r>
            <a:endParaRPr lang="en-US" sz="1600" dirty="0"/>
          </a:p>
        </p:txBody>
      </p:sp>
      <p:sp>
        <p:nvSpPr>
          <p:cNvPr id="10" name="Text 7"/>
          <p:cNvSpPr txBox="1"/>
          <p:nvPr/>
        </p:nvSpPr>
        <p:spPr>
          <a:xfrm>
            <a:off x="6565392" y="4407408"/>
            <a:ext cx="4937760" cy="713232"/>
          </a:xfrm>
          <a:prstGeom prst="rect">
            <a:avLst/>
          </a:prstGeom>
          <a:noFill/>
          <a:ln/>
        </p:spPr>
        <p:txBody>
          <a:bodyPr wrap="square" lIns="0" tIns="0" rIns="0" bIns="0" rtlCol="0" anchor="ctr">
            <a:normAutofit/>
          </a:bodyPr>
          <a:lstStyle/>
          <a:p>
            <a:pPr indent="0" marL="0">
              <a:buNone/>
            </a:pPr>
            <a:r>
              <a:rPr lang="en-US" sz="4300" b="1" dirty="0">
                <a:solidFill>
                  <a:srgbClr val="244336"/>
                </a:solidFill>
                <a:latin typeface="Cambria" pitchFamily="34" charset="0"/>
                <a:ea typeface="Cambria" pitchFamily="34" charset="-122"/>
                <a:cs typeface="Cambria" pitchFamily="34" charset="-120"/>
              </a:rPr>
              <a:t>72%</a:t>
            </a:r>
            <a:endParaRPr lang="en-US" sz="4300" dirty="0"/>
          </a:p>
        </p:txBody>
      </p:sp>
      <p:sp>
        <p:nvSpPr>
          <p:cNvPr id="11" name="Text 8"/>
          <p:cNvSpPr txBox="1"/>
          <p:nvPr/>
        </p:nvSpPr>
        <p:spPr>
          <a:xfrm>
            <a:off x="6565392" y="5212080"/>
            <a:ext cx="4937760" cy="50292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of recorded pre-adoption exposures stayed within a community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06</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raw rate rises at higher exposure counts</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results/tables/null_comparison.csv; complete 14-day trials</a:t>
            </a:r>
            <a:endParaRPr lang="en-US" sz="900" dirty="0"/>
          </a:p>
        </p:txBody>
      </p:sp>
      <p:graphicFrame>
        <p:nvGraphicFramePr>
          <p:cNvPr id="5" name="Chart 0" descr=""/>
          <p:cNvGraphicFramePr/>
          <p:nvPr/>
        </p:nvGraphicFramePr>
        <p:xfrm>
          <a:off x="548640" y="1600200"/>
          <a:ext cx="7589520" cy="43891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394192" y="2057400"/>
            <a:ext cx="3108960" cy="1188720"/>
          </a:xfrm>
          <a:prstGeom prst="rect">
            <a:avLst/>
          </a:prstGeom>
          <a:noFill/>
          <a:ln/>
        </p:spPr>
        <p:txBody>
          <a:bodyPr wrap="square" lIns="0" tIns="0" rIns="0" bIns="0" rtlCol="0" anchor="ctr">
            <a:normAutofit/>
          </a:bodyPr>
          <a:lstStyle/>
          <a:p>
            <a:pPr indent="0" marL="0">
              <a:buNone/>
            </a:pPr>
            <a:r>
              <a:rPr lang="en-US" sz="2200" dirty="0">
                <a:solidFill>
                  <a:srgbClr val="244336"/>
                </a:solidFill>
                <a:latin typeface="Arial" pitchFamily="34" charset="0"/>
                <a:ea typeface="Arial" pitchFamily="34" charset="-122"/>
                <a:cs typeface="Arial" pitchFamily="34" charset="-120"/>
              </a:rPr>
              <a:t>Raw adoption reaches 16.0% after six or more distinct opponents.</a:t>
            </a:r>
            <a:endParaRPr lang="en-US" sz="2200" dirty="0"/>
          </a:p>
        </p:txBody>
      </p:sp>
      <p:sp>
        <p:nvSpPr>
          <p:cNvPr id="7" name="Text 4"/>
          <p:cNvSpPr txBox="1"/>
          <p:nvPr/>
        </p:nvSpPr>
        <p:spPr>
          <a:xfrm>
            <a:off x="8394192" y="3657600"/>
            <a:ext cx="3108960" cy="1188720"/>
          </a:xfrm>
          <a:prstGeom prst="rect">
            <a:avLst/>
          </a:prstGeom>
          <a:noFill/>
          <a:ln/>
        </p:spPr>
        <p:txBody>
          <a:bodyPr wrap="square" lIns="0" tIns="0" rIns="0" bIns="0" rtlCol="0" anchor="ctr">
            <a:normAutofit/>
          </a:bodyPr>
          <a:lstStyle/>
          <a:p>
            <a:pPr indent="0" marL="0">
              <a:buNone/>
            </a:pPr>
            <a:r>
              <a:rPr lang="en-US" sz="2000" dirty="0">
                <a:solidFill>
                  <a:srgbClr val="58685D"/>
                </a:solidFill>
                <a:latin typeface="Arial" pitchFamily="34" charset="0"/>
                <a:ea typeface="Arial" pitchFamily="34" charset="-122"/>
                <a:cs typeface="Arial" pitchFamily="34" charset="-120"/>
              </a:rPr>
              <a:t>But the shuffled reference reaches 16.7% at the same point.</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07</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The reference changes the interpretation</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results/tables/null_comparison.csv, 20 timestamp shuffles</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58368" y="1783080"/>
          <a:ext cx="10881360" cy="1234440"/>
        </p:xfrm>
        <a:graphic>
          <a:graphicData uri="http://schemas.openxmlformats.org/drawingml/2006/table">
            <a:tbl>
              <a:tblPr/>
              <a:tblGrid>
                <a:gridCol w="1554480"/>
                <a:gridCol w="1554480"/>
                <a:gridCol w="1554480"/>
                <a:gridCol w="1554480"/>
                <a:gridCol w="1554480"/>
                <a:gridCol w="1554480"/>
                <a:gridCol w="1554480"/>
              </a:tblGrid>
              <a:tr h="617220">
                <a:tc>
                  <a:txBody>
                    <a:bodyPr/>
                    <a:lstStyle/>
                    <a:p>
                      <a:pPr indent="0" marL="0">
                        <a:buNone/>
                      </a:pPr>
                      <a:r>
                        <a:rPr lang="en-US" sz="1700" b="1" dirty="0">
                          <a:solidFill>
                            <a:srgbClr val="20241F"/>
                          </a:solidFill>
                          <a:latin typeface="Arial" pitchFamily="34" charset="0"/>
                          <a:ea typeface="Arial" pitchFamily="34" charset="-122"/>
                          <a:cs typeface="Arial" pitchFamily="34" charset="-120"/>
                        </a:rPr>
                        <a:t>Distinct opponents</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1</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2</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3</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4</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5</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b="1" dirty="0">
                          <a:solidFill>
                            <a:srgbClr val="20241F"/>
                          </a:solidFill>
                          <a:latin typeface="Arial" pitchFamily="34" charset="0"/>
                          <a:ea typeface="Arial" pitchFamily="34" charset="-122"/>
                          <a:cs typeface="Arial" pitchFamily="34" charset="-120"/>
                        </a:rPr>
                        <a:t>6+</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r>
              <a:tr h="617220">
                <a:tc>
                  <a:txBody>
                    <a:bodyPr/>
                    <a:lstStyle/>
                    <a:p>
                      <a:pPr indent="0" marL="0">
                        <a:buNone/>
                      </a:pPr>
                      <a:r>
                        <a:rPr lang="en-US" sz="1700" dirty="0">
                          <a:solidFill>
                            <a:srgbClr val="20241F"/>
                          </a:solidFill>
                          <a:latin typeface="Arial" pitchFamily="34" charset="0"/>
                          <a:ea typeface="Arial" pitchFamily="34" charset="-122"/>
                          <a:cs typeface="Arial" pitchFamily="34" charset="-120"/>
                        </a:rPr>
                        <a:t>Observed / shuffled</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1.084</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1.038</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1.019</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1.017</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1.003</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c>
                  <a:txBody>
                    <a:bodyPr/>
                    <a:lstStyle/>
                    <a:p>
                      <a:pPr indent="0" marL="0">
                        <a:buNone/>
                      </a:pPr>
                      <a:r>
                        <a:rPr lang="en-US" sz="1700" dirty="0">
                          <a:solidFill>
                            <a:srgbClr val="20241F"/>
                          </a:solidFill>
                          <a:latin typeface="Arial" pitchFamily="34" charset="0"/>
                          <a:ea typeface="Arial" pitchFamily="34" charset="-122"/>
                          <a:cs typeface="Arial" pitchFamily="34" charset="-120"/>
                        </a:rPr>
                        <a:t>0.959</a:t>
                      </a:r>
                      <a:endParaRPr lang="en-US" sz="1700" dirty="0">
                        <a:latin typeface="Arial" charset="0"/>
                        <a:ea typeface="Arial" charset="0"/>
                        <a:cs typeface="Arial" charset="0"/>
                      </a:endParaRPr>
                    </a:p>
                  </a:txBody>
                  <a:tcPr marL="109728" marR="109728" marT="109728" marB="109728">
                    <a:lnL w="6350" cap="flat" cmpd="sng" algn="ctr">
                      <a:solidFill>
                        <a:srgbClr val="D8E2DA"/>
                      </a:solidFill>
                      <a:prstDash val="solid"/>
                      <a:round/>
                      <a:headEnd type="none" w="med" len="med"/>
                      <a:tailEnd type="none" w="med" len="med"/>
                    </a:lnL>
                    <a:lnR w="6350" cap="flat" cmpd="sng" algn="ctr">
                      <a:solidFill>
                        <a:srgbClr val="D8E2DA"/>
                      </a:solidFill>
                      <a:prstDash val="solid"/>
                      <a:round/>
                      <a:headEnd type="none" w="med" len="med"/>
                      <a:tailEnd type="none" w="med" len="med"/>
                    </a:lnR>
                    <a:lnT w="6350" cap="flat" cmpd="sng" algn="ctr">
                      <a:solidFill>
                        <a:srgbClr val="D8E2DA"/>
                      </a:solidFill>
                      <a:prstDash val="solid"/>
                      <a:round/>
                      <a:headEnd type="none" w="med" len="med"/>
                      <a:tailEnd type="none" w="med" len="med"/>
                    </a:lnT>
                    <a:lnB w="6350" cap="flat" cmpd="sng" algn="ctr">
                      <a:solidFill>
                        <a:srgbClr val="D8E2DA"/>
                      </a:solidFill>
                      <a:prstDash val="solid"/>
                      <a:round/>
                      <a:headEnd type="none" w="med" len="med"/>
                      <a:tailEnd type="none" w="med" len="med"/>
                    </a:lnB>
                    <a:solidFill>
                      <a:srgbClr val="EAF0EB"/>
                    </a:solidFill>
                  </a:tcPr>
                </a:tc>
              </a:tr>
            </a:tbl>
          </a:graphicData>
        </a:graphic>
      </p:graphicFrame>
      <p:sp>
        <p:nvSpPr>
          <p:cNvPr id="6" name="Text 3"/>
          <p:cNvSpPr txBox="1"/>
          <p:nvPr/>
        </p:nvSpPr>
        <p:spPr>
          <a:xfrm>
            <a:off x="731520" y="3840480"/>
            <a:ext cx="2057400" cy="731520"/>
          </a:xfrm>
          <a:prstGeom prst="rect">
            <a:avLst/>
          </a:prstGeom>
          <a:noFill/>
          <a:ln/>
        </p:spPr>
        <p:txBody>
          <a:bodyPr wrap="square" lIns="0" tIns="0" rIns="0" bIns="0" rtlCol="0" anchor="ctr">
            <a:normAutofit/>
          </a:bodyPr>
          <a:lstStyle/>
          <a:p>
            <a:pPr indent="0" marL="0">
              <a:buNone/>
            </a:pPr>
            <a:r>
              <a:rPr lang="en-US" sz="4200" b="1" dirty="0">
                <a:solidFill>
                  <a:srgbClr val="244336"/>
                </a:solidFill>
                <a:latin typeface="Cambria" pitchFamily="34" charset="0"/>
                <a:ea typeface="Cambria" pitchFamily="34" charset="-122"/>
                <a:cs typeface="Cambria" pitchFamily="34" charset="-120"/>
              </a:rPr>
              <a:t>1.084</a:t>
            </a:r>
            <a:endParaRPr lang="en-US" sz="4200" dirty="0"/>
          </a:p>
        </p:txBody>
      </p:sp>
      <p:sp>
        <p:nvSpPr>
          <p:cNvPr id="7" name="Text 4"/>
          <p:cNvSpPr txBox="1"/>
          <p:nvPr/>
        </p:nvSpPr>
        <p:spPr>
          <a:xfrm>
            <a:off x="731520" y="4681728"/>
            <a:ext cx="2423160" cy="411480"/>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first opponent</a:t>
            </a:r>
            <a:endParaRPr lang="en-US" sz="1700" dirty="0"/>
          </a:p>
        </p:txBody>
      </p:sp>
      <p:sp>
        <p:nvSpPr>
          <p:cNvPr id="8" name="Text 5"/>
          <p:cNvSpPr txBox="1"/>
          <p:nvPr/>
        </p:nvSpPr>
        <p:spPr>
          <a:xfrm>
            <a:off x="4069080" y="3840480"/>
            <a:ext cx="2057400" cy="731520"/>
          </a:xfrm>
          <a:prstGeom prst="rect">
            <a:avLst/>
          </a:prstGeom>
          <a:noFill/>
          <a:ln/>
        </p:spPr>
        <p:txBody>
          <a:bodyPr wrap="square" lIns="0" tIns="0" rIns="0" bIns="0" rtlCol="0" anchor="ctr">
            <a:normAutofit/>
          </a:bodyPr>
          <a:lstStyle/>
          <a:p>
            <a:pPr indent="0" marL="0">
              <a:buNone/>
            </a:pPr>
            <a:r>
              <a:rPr lang="en-US" sz="4200" b="1" dirty="0">
                <a:solidFill>
                  <a:srgbClr val="AA5A4A"/>
                </a:solidFill>
                <a:latin typeface="Cambria" pitchFamily="34" charset="0"/>
                <a:ea typeface="Cambria" pitchFamily="34" charset="-122"/>
                <a:cs typeface="Cambria" pitchFamily="34" charset="-120"/>
              </a:rPr>
              <a:t>0.959</a:t>
            </a:r>
            <a:endParaRPr lang="en-US" sz="4200" dirty="0"/>
          </a:p>
        </p:txBody>
      </p:sp>
      <p:sp>
        <p:nvSpPr>
          <p:cNvPr id="9" name="Text 6"/>
          <p:cNvSpPr txBox="1"/>
          <p:nvPr/>
        </p:nvSpPr>
        <p:spPr>
          <a:xfrm>
            <a:off x="4069080" y="4681728"/>
            <a:ext cx="2377440" cy="411480"/>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six or more</a:t>
            </a:r>
            <a:endParaRPr lang="en-US" sz="1700" dirty="0"/>
          </a:p>
        </p:txBody>
      </p:sp>
      <p:sp>
        <p:nvSpPr>
          <p:cNvPr id="10" name="Text 7"/>
          <p:cNvSpPr txBox="1"/>
          <p:nvPr/>
        </p:nvSpPr>
        <p:spPr>
          <a:xfrm>
            <a:off x="7315200" y="3840480"/>
            <a:ext cx="4069080" cy="1463040"/>
          </a:xfrm>
          <a:prstGeom prst="rect">
            <a:avLst/>
          </a:prstGeom>
          <a:noFill/>
          <a:ln/>
        </p:spPr>
        <p:txBody>
          <a:bodyPr wrap="square" lIns="0" tIns="0" rIns="0" bIns="0" rtlCol="0" anchor="ctr">
            <a:normAutofit/>
          </a:bodyPr>
          <a:lstStyle/>
          <a:p>
            <a:pPr indent="0" marL="0">
              <a:buNone/>
            </a:pPr>
            <a:r>
              <a:rPr lang="en-US" sz="2100" dirty="0">
                <a:solidFill>
                  <a:srgbClr val="20241F"/>
                </a:solidFill>
                <a:latin typeface="Arial" pitchFamily="34" charset="0"/>
                <a:ea typeface="Arial" pitchFamily="34" charset="-122"/>
                <a:cs typeface="Arial" pitchFamily="34" charset="-120"/>
              </a:rPr>
              <a:t>The excess over shuffled time falls as distinct opponents increase. We see a simple-contagion pattern without clear reinforcement.</a:t>
            </a:r>
            <a:endParaRPr lang="en-US" sz="2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08</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Matched players provide another check</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docs/RESULTS.md, matched controls with prior rating and activity</a:t>
            </a:r>
            <a:endParaRPr lang="en-US" sz="900" dirty="0"/>
          </a:p>
        </p:txBody>
      </p:sp>
      <p:graphicFrame>
        <p:nvGraphicFramePr>
          <p:cNvPr id="5" name="Chart 0" descr=""/>
          <p:cNvGraphicFramePr/>
          <p:nvPr/>
        </p:nvGraphicFramePr>
        <p:xfrm>
          <a:off x="594360" y="1645920"/>
          <a:ext cx="7223760" cy="41148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8229600" y="1874520"/>
            <a:ext cx="2926080" cy="822960"/>
          </a:xfrm>
          <a:prstGeom prst="rect">
            <a:avLst/>
          </a:prstGeom>
          <a:noFill/>
          <a:ln/>
        </p:spPr>
        <p:txBody>
          <a:bodyPr wrap="square" lIns="0" tIns="0" rIns="0" bIns="0" rtlCol="0" anchor="ctr">
            <a:normAutofit/>
          </a:bodyPr>
          <a:lstStyle/>
          <a:p>
            <a:pPr indent="0" marL="0">
              <a:buNone/>
            </a:pPr>
            <a:r>
              <a:rPr lang="en-US" sz="4500" b="1" dirty="0">
                <a:solidFill>
                  <a:srgbClr val="244336"/>
                </a:solidFill>
                <a:latin typeface="Cambria" pitchFamily="34" charset="0"/>
                <a:ea typeface="Cambria" pitchFamily="34" charset="-122"/>
                <a:cs typeface="Cambria" pitchFamily="34" charset="-120"/>
              </a:rPr>
              <a:t>+2.55</a:t>
            </a:r>
            <a:endParaRPr lang="en-US" sz="4500" dirty="0"/>
          </a:p>
        </p:txBody>
      </p:sp>
      <p:sp>
        <p:nvSpPr>
          <p:cNvPr id="7" name="Text 4"/>
          <p:cNvSpPr txBox="1"/>
          <p:nvPr/>
        </p:nvSpPr>
        <p:spPr>
          <a:xfrm>
            <a:off x="8229600" y="2743200"/>
            <a:ext cx="2834640" cy="384048"/>
          </a:xfrm>
          <a:prstGeom prst="rect">
            <a:avLst/>
          </a:prstGeom>
          <a:noFill/>
          <a:ln/>
        </p:spPr>
        <p:txBody>
          <a:bodyPr wrap="square" lIns="0" tIns="0" rIns="0" bIns="0" rtlCol="0" anchor="ctr">
            <a:normAutofit/>
          </a:bodyPr>
          <a:lstStyle/>
          <a:p>
            <a:pPr indent="0" marL="0">
              <a:buNone/>
            </a:pPr>
            <a:r>
              <a:rPr lang="en-US" sz="1700" dirty="0">
                <a:solidFill>
                  <a:srgbClr val="58685D"/>
                </a:solidFill>
                <a:latin typeface="Arial" pitchFamily="34" charset="0"/>
                <a:ea typeface="Arial" pitchFamily="34" charset="-122"/>
                <a:cs typeface="Arial" pitchFamily="34" charset="-120"/>
              </a:rPr>
              <a:t>percentage points</a:t>
            </a:r>
            <a:endParaRPr lang="en-US" sz="1700" dirty="0"/>
          </a:p>
        </p:txBody>
      </p:sp>
      <p:sp>
        <p:nvSpPr>
          <p:cNvPr id="8" name="Text 5"/>
          <p:cNvSpPr txBox="1"/>
          <p:nvPr/>
        </p:nvSpPr>
        <p:spPr>
          <a:xfrm>
            <a:off x="8229600" y="3703320"/>
            <a:ext cx="3291840" cy="1280160"/>
          </a:xfrm>
          <a:prstGeom prst="rect">
            <a:avLst/>
          </a:prstGeom>
          <a:noFill/>
          <a:ln/>
        </p:spPr>
        <p:txBody>
          <a:bodyPr wrap="square" lIns="0" tIns="0" rIns="0" bIns="0" rtlCol="0" anchor="ctr">
            <a:normAutofit/>
          </a:bodyPr>
          <a:lstStyle/>
          <a:p>
            <a:pPr indent="0" marL="0">
              <a:buNone/>
            </a:pPr>
            <a:r>
              <a:rPr lang="en-US" sz="1800" dirty="0">
                <a:solidFill>
                  <a:srgbClr val="20241F"/>
                </a:solidFill>
                <a:latin typeface="Arial" pitchFamily="34" charset="0"/>
                <a:ea typeface="Arial" pitchFamily="34" charset="-122"/>
                <a:cs typeface="Arial" pitchFamily="34" charset="-120"/>
              </a:rPr>
              <a:t>56,459 matched pairs. Descriptive player-cluster interval: +1.82 to +3.13 points.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09</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Network information improves prediction</a:t>
            </a:r>
            <a:endParaRPr lang="en-US" sz="3300" dirty="0"/>
          </a:p>
        </p:txBody>
      </p:sp>
      <p:sp>
        <p:nvSpPr>
          <p:cNvPr id="4" name="Text 2"/>
          <p:cNvSpPr txBox="1"/>
          <p:nvPr/>
        </p:nvSpPr>
        <p:spPr>
          <a:xfrm>
            <a:off x="502920" y="6510528"/>
            <a:ext cx="11064240" cy="182880"/>
          </a:xfrm>
          <a:prstGeom prst="rect">
            <a:avLst/>
          </a:prstGeom>
          <a:noFill/>
          <a:ln/>
        </p:spPr>
        <p:txBody>
          <a:bodyPr wrap="square" lIns="0" tIns="0" rIns="0" bIns="0" rtlCol="0" anchor="ctr">
            <a:normAutofit/>
          </a:bodyPr>
          <a:lstStyle/>
          <a:p>
            <a:pPr indent="0" marL="0">
              <a:buNone/>
            </a:pPr>
            <a:r>
              <a:rPr lang="en-US" sz="900" dirty="0">
                <a:solidFill>
                  <a:srgbClr val="58685D"/>
                </a:solidFill>
                <a:latin typeface="Arial" pitchFamily="34" charset="0"/>
                <a:ea typeface="Arial" pitchFamily="34" charset="-122"/>
                <a:cs typeface="Arial" pitchFamily="34" charset="-120"/>
              </a:rPr>
              <a:t>Source: docs/RESULTS.md, group-held-out test set</a:t>
            </a:r>
            <a:endParaRPr lang="en-US" sz="900" dirty="0"/>
          </a:p>
        </p:txBody>
      </p:sp>
      <p:graphicFrame>
        <p:nvGraphicFramePr>
          <p:cNvPr id="5" name="Chart 0" descr=""/>
          <p:cNvGraphicFramePr/>
          <p:nvPr/>
        </p:nvGraphicFramePr>
        <p:xfrm>
          <a:off x="594360" y="1645920"/>
          <a:ext cx="8275320" cy="42976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9006840" y="1965960"/>
            <a:ext cx="2606040" cy="2103120"/>
          </a:xfrm>
          <a:prstGeom prst="rect">
            <a:avLst/>
          </a:prstGeom>
          <a:noFill/>
          <a:ln/>
        </p:spPr>
        <p:txBody>
          <a:bodyPr wrap="square" lIns="0" tIns="0" rIns="0" bIns="0" rtlCol="0" anchor="ctr">
            <a:normAutofit/>
          </a:bodyPr>
          <a:lstStyle/>
          <a:p>
            <a:pPr indent="0" marL="0">
              <a:buNone/>
            </a:pPr>
            <a:r>
              <a:rPr lang="en-US" sz="2100" dirty="0">
                <a:solidFill>
                  <a:srgbClr val="244336"/>
                </a:solidFill>
                <a:latin typeface="Arial" pitchFamily="34" charset="0"/>
                <a:ea typeface="Arial" pitchFamily="34" charset="-122"/>
                <a:cs typeface="Arial" pitchFamily="34" charset="-120"/>
              </a:rPr>
              <a:t>Exposure and network features help rank later adoption in held-out player–opening groups.</a:t>
            </a:r>
            <a:endParaRPr lang="en-US" sz="2100" dirty="0"/>
          </a:p>
        </p:txBody>
      </p:sp>
      <p:sp>
        <p:nvSpPr>
          <p:cNvPr id="7" name="Text 4"/>
          <p:cNvSpPr txBox="1"/>
          <p:nvPr/>
        </p:nvSpPr>
        <p:spPr>
          <a:xfrm>
            <a:off x="9006840" y="4663440"/>
            <a:ext cx="2606040" cy="914400"/>
          </a:xfrm>
          <a:prstGeom prst="rect">
            <a:avLst/>
          </a:prstGeom>
          <a:noFill/>
          <a:ln/>
        </p:spPr>
        <p:txBody>
          <a:bodyPr wrap="square" lIns="0" tIns="0" rIns="0" bIns="0" rtlCol="0" anchor="ctr">
            <a:normAutofit/>
          </a:bodyPr>
          <a:lstStyle/>
          <a:p>
            <a:pPr indent="0" marL="0">
              <a:buNone/>
            </a:pPr>
            <a:r>
              <a:rPr lang="en-US" sz="1600" dirty="0">
                <a:solidFill>
                  <a:srgbClr val="58685D"/>
                </a:solidFill>
                <a:latin typeface="Arial" pitchFamily="34" charset="0"/>
                <a:ea typeface="Arial" pitchFamily="34" charset="-122"/>
                <a:cs typeface="Arial" pitchFamily="34" charset="-120"/>
              </a:rPr>
              <a:t>Prediction is useful evidence of signal, not proof of influence.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10</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What the project lets us inspect</a:t>
            </a:r>
            <a:endParaRPr lang="en-US" sz="3300" dirty="0"/>
          </a:p>
        </p:txBody>
      </p:sp>
      <p:pic>
        <p:nvPicPr>
          <p:cNvPr id="4" name="Image 0" descr="C:\Users\hridy\Desktop\sna\results\figures\diffusion_panels.png">    </p:cNvPr>
          <p:cNvPicPr>
            <a:picLocks noChangeAspect="1"/>
          </p:cNvPicPr>
          <p:nvPr/>
        </p:nvPicPr>
        <p:blipFill>
          <a:blip r:embed="rId1"/>
          <a:stretch>
            <a:fillRect/>
          </a:stretch>
        </p:blipFill>
        <p:spPr>
          <a:xfrm>
            <a:off x="594360" y="1554480"/>
            <a:ext cx="7040880" cy="4389120"/>
          </a:xfrm>
          <a:prstGeom prst="rect">
            <a:avLst/>
          </a:prstGeom>
        </p:spPr>
      </p:pic>
      <p:sp>
        <p:nvSpPr>
          <p:cNvPr id="5" name="Text 2"/>
          <p:cNvSpPr txBox="1"/>
          <p:nvPr/>
        </p:nvSpPr>
        <p:spPr>
          <a:xfrm>
            <a:off x="8001000" y="1691640"/>
            <a:ext cx="3520440" cy="1234440"/>
          </a:xfrm>
          <a:prstGeom prst="rect">
            <a:avLst/>
          </a:prstGeom>
          <a:noFill/>
          <a:ln/>
        </p:spPr>
        <p:txBody>
          <a:bodyPr wrap="square" lIns="0" tIns="0" rIns="0" bIns="0" rtlCol="0" anchor="ctr">
            <a:normAutofit/>
          </a:bodyPr>
          <a:lstStyle/>
          <a:p>
            <a:pPr indent="0" marL="0">
              <a:buNone/>
            </a:pPr>
            <a:r>
              <a:rPr lang="en-US" sz="2100" dirty="0">
                <a:solidFill>
                  <a:srgbClr val="20241F"/>
                </a:solidFill>
                <a:latin typeface="Arial" pitchFamily="34" charset="0"/>
                <a:ea typeface="Arial" pitchFamily="34" charset="-122"/>
                <a:cs typeface="Arial" pitchFamily="34" charset="-120"/>
              </a:rPr>
              <a:t>The findings page shows the curve, sample sizes and opening-level filters.</a:t>
            </a:r>
            <a:endParaRPr lang="en-US" sz="2100" dirty="0"/>
          </a:p>
        </p:txBody>
      </p:sp>
      <p:sp>
        <p:nvSpPr>
          <p:cNvPr id="6" name="Text 3"/>
          <p:cNvSpPr txBox="1"/>
          <p:nvPr/>
        </p:nvSpPr>
        <p:spPr>
          <a:xfrm>
            <a:off x="8001000" y="3474720"/>
            <a:ext cx="3520440" cy="1371600"/>
          </a:xfrm>
          <a:prstGeom prst="rect">
            <a:avLst/>
          </a:prstGeom>
          <a:noFill/>
          <a:ln/>
        </p:spPr>
        <p:txBody>
          <a:bodyPr wrap="square" lIns="0" tIns="0" rIns="0" bIns="0" rtlCol="0" anchor="ctr">
            <a:normAutofit/>
          </a:bodyPr>
          <a:lstStyle/>
          <a:p>
            <a:pPr indent="0" marL="0">
              <a:buNone/>
            </a:pPr>
            <a:r>
              <a:rPr lang="en-US" sz="1900" dirty="0">
                <a:solidFill>
                  <a:srgbClr val="58685D"/>
                </a:solidFill>
                <a:latin typeface="Arial" pitchFamily="34" charset="0"/>
                <a:ea typeface="Arial" pitchFamily="34" charset="-122"/>
                <a:cs typeface="Arial" pitchFamily="34" charset="-120"/>
              </a:rPr>
              <a:t>The console adds a playable board, live stage updates and a network view as the pipeline runs.</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44336"/>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D8E3D6"/>
                </a:solidFill>
                <a:latin typeface="Arial" pitchFamily="34" charset="0"/>
                <a:ea typeface="Arial" pitchFamily="34" charset="-122"/>
                <a:cs typeface="Arial" pitchFamily="34" charset="-120"/>
              </a:rPr>
              <a:t>11</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FFFFFF"/>
                </a:solidFill>
                <a:latin typeface="Cambria" pitchFamily="34" charset="0"/>
                <a:ea typeface="Cambria" pitchFamily="34" charset="-122"/>
                <a:cs typeface="Cambria" pitchFamily="34" charset="-120"/>
              </a:rPr>
              <a:t>Live demo: start a fresh analysis</a:t>
            </a:r>
            <a:endParaRPr lang="en-US" sz="3300" dirty="0"/>
          </a:p>
        </p:txBody>
      </p:sp>
      <p:sp>
        <p:nvSpPr>
          <p:cNvPr id="4" name="Text 2"/>
          <p:cNvSpPr txBox="1"/>
          <p:nvPr/>
        </p:nvSpPr>
        <p:spPr>
          <a:xfrm>
            <a:off x="640080" y="1508760"/>
            <a:ext cx="502920" cy="502920"/>
          </a:xfrm>
          <a:prstGeom prst="rect">
            <a:avLst/>
          </a:prstGeom>
          <a:noFill/>
          <a:ln/>
        </p:spPr>
        <p:txBody>
          <a:bodyPr wrap="square" lIns="0" tIns="0" rIns="0" bIns="0" rtlCol="0" anchor="ctr">
            <a:normAutofit/>
          </a:bodyPr>
          <a:lstStyle/>
          <a:p>
            <a:pPr indent="0" marL="0">
              <a:buNone/>
            </a:pPr>
            <a:r>
              <a:rPr lang="en-US" sz="2900" b="1" dirty="0">
                <a:solidFill>
                  <a:srgbClr val="D3A64A"/>
                </a:solidFill>
                <a:latin typeface="Cambria" pitchFamily="34" charset="0"/>
                <a:ea typeface="Cambria" pitchFamily="34" charset="-122"/>
                <a:cs typeface="Cambria" pitchFamily="34" charset="-120"/>
              </a:rPr>
              <a:t>1</a:t>
            </a:r>
            <a:endParaRPr lang="en-US" sz="2900" dirty="0"/>
          </a:p>
        </p:txBody>
      </p:sp>
      <p:sp>
        <p:nvSpPr>
          <p:cNvPr id="5" name="Text 3"/>
          <p:cNvSpPr txBox="1"/>
          <p:nvPr/>
        </p:nvSpPr>
        <p:spPr>
          <a:xfrm>
            <a:off x="1417320" y="1508760"/>
            <a:ext cx="1828800" cy="41148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Arial" pitchFamily="34" charset="0"/>
                <a:ea typeface="Arial" pitchFamily="34" charset="-122"/>
                <a:cs typeface="Arial" pitchFamily="34" charset="-120"/>
              </a:rPr>
              <a:t>Open</a:t>
            </a:r>
            <a:endParaRPr lang="en-US" sz="2300" dirty="0"/>
          </a:p>
        </p:txBody>
      </p:sp>
      <p:sp>
        <p:nvSpPr>
          <p:cNvPr id="6" name="Text 4"/>
          <p:cNvSpPr txBox="1"/>
          <p:nvPr/>
        </p:nvSpPr>
        <p:spPr>
          <a:xfrm>
            <a:off x="3657600" y="1508760"/>
            <a:ext cx="7589520" cy="457200"/>
          </a:xfrm>
          <a:prstGeom prst="rect">
            <a:avLst/>
          </a:prstGeom>
          <a:noFill/>
          <a:ln/>
        </p:spPr>
        <p:txBody>
          <a:bodyPr wrap="square" lIns="0" tIns="0" rIns="0" bIns="0" rtlCol="0" anchor="ctr">
            <a:normAutofit/>
          </a:bodyPr>
          <a:lstStyle/>
          <a:p>
            <a:pPr indent="0" marL="0">
              <a:buNone/>
            </a:pPr>
            <a:r>
              <a:rPr lang="en-US" sz="1900" dirty="0">
                <a:solidFill>
                  <a:srgbClr val="E0EAE0"/>
                </a:solidFill>
                <a:latin typeface="Arial" pitchFamily="34" charset="0"/>
                <a:ea typeface="Arial" pitchFamily="34" charset="-122"/>
                <a:cs typeface="Arial" pitchFamily="34" charset="-120"/>
              </a:rPr>
              <a:t>127.0.0.1:8124</a:t>
            </a:r>
            <a:endParaRPr lang="en-US" sz="1900" dirty="0"/>
          </a:p>
        </p:txBody>
      </p:sp>
      <p:sp>
        <p:nvSpPr>
          <p:cNvPr id="7" name="Text 5"/>
          <p:cNvSpPr txBox="1"/>
          <p:nvPr/>
        </p:nvSpPr>
        <p:spPr>
          <a:xfrm>
            <a:off x="640080" y="2606040"/>
            <a:ext cx="502920" cy="502920"/>
          </a:xfrm>
          <a:prstGeom prst="rect">
            <a:avLst/>
          </a:prstGeom>
          <a:noFill/>
          <a:ln/>
        </p:spPr>
        <p:txBody>
          <a:bodyPr wrap="square" lIns="0" tIns="0" rIns="0" bIns="0" rtlCol="0" anchor="ctr">
            <a:normAutofit/>
          </a:bodyPr>
          <a:lstStyle/>
          <a:p>
            <a:pPr indent="0" marL="0">
              <a:buNone/>
            </a:pPr>
            <a:r>
              <a:rPr lang="en-US" sz="2900" b="1" dirty="0">
                <a:solidFill>
                  <a:srgbClr val="D3A64A"/>
                </a:solidFill>
                <a:latin typeface="Cambria" pitchFamily="34" charset="0"/>
                <a:ea typeface="Cambria" pitchFamily="34" charset="-122"/>
                <a:cs typeface="Cambria" pitchFamily="34" charset="-120"/>
              </a:rPr>
              <a:t>2</a:t>
            </a:r>
            <a:endParaRPr lang="en-US" sz="2900" dirty="0"/>
          </a:p>
        </p:txBody>
      </p:sp>
      <p:sp>
        <p:nvSpPr>
          <p:cNvPr id="8" name="Text 6"/>
          <p:cNvSpPr txBox="1"/>
          <p:nvPr/>
        </p:nvSpPr>
        <p:spPr>
          <a:xfrm>
            <a:off x="1417320" y="2606040"/>
            <a:ext cx="1828800" cy="41148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Arial" pitchFamily="34" charset="0"/>
                <a:ea typeface="Arial" pitchFamily="34" charset="-122"/>
                <a:cs typeface="Arial" pitchFamily="34" charset="-120"/>
              </a:rPr>
              <a:t>Choose</a:t>
            </a:r>
            <a:endParaRPr lang="en-US" sz="2300" dirty="0"/>
          </a:p>
        </p:txBody>
      </p:sp>
      <p:sp>
        <p:nvSpPr>
          <p:cNvPr id="9" name="Text 7"/>
          <p:cNvSpPr txBox="1"/>
          <p:nvPr/>
        </p:nvSpPr>
        <p:spPr>
          <a:xfrm>
            <a:off x="3657600" y="2606040"/>
            <a:ext cx="7589520" cy="457200"/>
          </a:xfrm>
          <a:prstGeom prst="rect">
            <a:avLst/>
          </a:prstGeom>
          <a:noFill/>
          <a:ln/>
        </p:spPr>
        <p:txBody>
          <a:bodyPr wrap="square" lIns="0" tIns="0" rIns="0" bIns="0" rtlCol="0" anchor="ctr">
            <a:normAutofit/>
          </a:bodyPr>
          <a:lstStyle/>
          <a:p>
            <a:pPr indent="0" marL="0">
              <a:buNone/>
            </a:pPr>
            <a:r>
              <a:rPr lang="en-US" sz="1900" dirty="0">
                <a:solidFill>
                  <a:srgbClr val="E0EAE0"/>
                </a:solidFill>
                <a:latin typeface="Arial" pitchFamily="34" charset="0"/>
                <a:ea typeface="Arial" pitchFamily="34" charset="-122"/>
                <a:cs typeface="Arial" pitchFamily="34" charset="-120"/>
              </a:rPr>
              <a:t>January 2016 quick live demo</a:t>
            </a:r>
            <a:endParaRPr lang="en-US" sz="1900" dirty="0"/>
          </a:p>
        </p:txBody>
      </p:sp>
      <p:sp>
        <p:nvSpPr>
          <p:cNvPr id="10" name="Text 8"/>
          <p:cNvSpPr txBox="1"/>
          <p:nvPr/>
        </p:nvSpPr>
        <p:spPr>
          <a:xfrm>
            <a:off x="640080" y="3703320"/>
            <a:ext cx="502920" cy="502920"/>
          </a:xfrm>
          <a:prstGeom prst="rect">
            <a:avLst/>
          </a:prstGeom>
          <a:noFill/>
          <a:ln/>
        </p:spPr>
        <p:txBody>
          <a:bodyPr wrap="square" lIns="0" tIns="0" rIns="0" bIns="0" rtlCol="0" anchor="ctr">
            <a:normAutofit/>
          </a:bodyPr>
          <a:lstStyle/>
          <a:p>
            <a:pPr indent="0" marL="0">
              <a:buNone/>
            </a:pPr>
            <a:r>
              <a:rPr lang="en-US" sz="2900" b="1" dirty="0">
                <a:solidFill>
                  <a:srgbClr val="D3A64A"/>
                </a:solidFill>
                <a:latin typeface="Cambria" pitchFamily="34" charset="0"/>
                <a:ea typeface="Cambria" pitchFamily="34" charset="-122"/>
                <a:cs typeface="Cambria" pitchFamily="34" charset="-120"/>
              </a:rPr>
              <a:t>3</a:t>
            </a:r>
            <a:endParaRPr lang="en-US" sz="2900" dirty="0"/>
          </a:p>
        </p:txBody>
      </p:sp>
      <p:sp>
        <p:nvSpPr>
          <p:cNvPr id="11" name="Text 9"/>
          <p:cNvSpPr txBox="1"/>
          <p:nvPr/>
        </p:nvSpPr>
        <p:spPr>
          <a:xfrm>
            <a:off x="1417320" y="3703320"/>
            <a:ext cx="1828800" cy="41148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Arial" pitchFamily="34" charset="0"/>
                <a:ea typeface="Arial" pitchFamily="34" charset="-122"/>
                <a:cs typeface="Arial" pitchFamily="34" charset="-120"/>
              </a:rPr>
              <a:t>Run</a:t>
            </a:r>
            <a:endParaRPr lang="en-US" sz="2300" dirty="0"/>
          </a:p>
        </p:txBody>
      </p:sp>
      <p:sp>
        <p:nvSpPr>
          <p:cNvPr id="12" name="Text 10"/>
          <p:cNvSpPr txBox="1"/>
          <p:nvPr/>
        </p:nvSpPr>
        <p:spPr>
          <a:xfrm>
            <a:off x="3657600" y="3703320"/>
            <a:ext cx="7589520" cy="457200"/>
          </a:xfrm>
          <a:prstGeom prst="rect">
            <a:avLst/>
          </a:prstGeom>
          <a:noFill/>
          <a:ln/>
        </p:spPr>
        <p:txBody>
          <a:bodyPr wrap="square" lIns="0" tIns="0" rIns="0" bIns="0" rtlCol="0" anchor="ctr">
            <a:normAutofit/>
          </a:bodyPr>
          <a:lstStyle/>
          <a:p>
            <a:pPr indent="0" marL="0">
              <a:buNone/>
            </a:pPr>
            <a:r>
              <a:rPr lang="en-US" sz="1900" dirty="0">
                <a:solidFill>
                  <a:srgbClr val="E0EAE0"/>
                </a:solidFill>
                <a:latin typeface="Arial" pitchFamily="34" charset="0"/>
                <a:ea typeface="Arial" pitchFamily="34" charset="-122"/>
                <a:cs typeface="Arial" pitchFamily="34" charset="-120"/>
              </a:rPr>
              <a:t>Click Run analysis; watch the stages</a:t>
            </a:r>
            <a:endParaRPr lang="en-US" sz="1900" dirty="0"/>
          </a:p>
        </p:txBody>
      </p:sp>
      <p:sp>
        <p:nvSpPr>
          <p:cNvPr id="13" name="Text 11"/>
          <p:cNvSpPr txBox="1"/>
          <p:nvPr/>
        </p:nvSpPr>
        <p:spPr>
          <a:xfrm>
            <a:off x="640080" y="4800600"/>
            <a:ext cx="502920" cy="502920"/>
          </a:xfrm>
          <a:prstGeom prst="rect">
            <a:avLst/>
          </a:prstGeom>
          <a:noFill/>
          <a:ln/>
        </p:spPr>
        <p:txBody>
          <a:bodyPr wrap="square" lIns="0" tIns="0" rIns="0" bIns="0" rtlCol="0" anchor="ctr">
            <a:normAutofit/>
          </a:bodyPr>
          <a:lstStyle/>
          <a:p>
            <a:pPr indent="0" marL="0">
              <a:buNone/>
            </a:pPr>
            <a:r>
              <a:rPr lang="en-US" sz="2900" b="1" dirty="0">
                <a:solidFill>
                  <a:srgbClr val="D3A64A"/>
                </a:solidFill>
                <a:latin typeface="Cambria" pitchFamily="34" charset="0"/>
                <a:ea typeface="Cambria" pitchFamily="34" charset="-122"/>
                <a:cs typeface="Cambria" pitchFamily="34" charset="-120"/>
              </a:rPr>
              <a:t>4</a:t>
            </a:r>
            <a:endParaRPr lang="en-US" sz="2900" dirty="0"/>
          </a:p>
        </p:txBody>
      </p:sp>
      <p:sp>
        <p:nvSpPr>
          <p:cNvPr id="14" name="Text 12"/>
          <p:cNvSpPr txBox="1"/>
          <p:nvPr/>
        </p:nvSpPr>
        <p:spPr>
          <a:xfrm>
            <a:off x="1417320" y="4800600"/>
            <a:ext cx="1828800" cy="411480"/>
          </a:xfrm>
          <a:prstGeom prst="rect">
            <a:avLst/>
          </a:prstGeom>
          <a:noFill/>
          <a:ln/>
        </p:spPr>
        <p:txBody>
          <a:bodyPr wrap="square" lIns="0" tIns="0" rIns="0" bIns="0" rtlCol="0" anchor="ctr">
            <a:normAutofit/>
          </a:bodyPr>
          <a:lstStyle/>
          <a:p>
            <a:pPr indent="0" marL="0">
              <a:buNone/>
            </a:pPr>
            <a:r>
              <a:rPr lang="en-US" sz="2300" b="1" dirty="0">
                <a:solidFill>
                  <a:srgbClr val="FFFFFF"/>
                </a:solidFill>
                <a:latin typeface="Arial" pitchFamily="34" charset="0"/>
                <a:ea typeface="Arial" pitchFamily="34" charset="-122"/>
                <a:cs typeface="Arial" pitchFamily="34" charset="-120"/>
              </a:rPr>
              <a:t>Explore</a:t>
            </a:r>
            <a:endParaRPr lang="en-US" sz="2300" dirty="0"/>
          </a:p>
        </p:txBody>
      </p:sp>
      <p:sp>
        <p:nvSpPr>
          <p:cNvPr id="15" name="Text 13"/>
          <p:cNvSpPr txBox="1"/>
          <p:nvPr/>
        </p:nvSpPr>
        <p:spPr>
          <a:xfrm>
            <a:off x="3657600" y="4800600"/>
            <a:ext cx="7589520" cy="457200"/>
          </a:xfrm>
          <a:prstGeom prst="rect">
            <a:avLst/>
          </a:prstGeom>
          <a:noFill/>
          <a:ln/>
        </p:spPr>
        <p:txBody>
          <a:bodyPr wrap="square" lIns="0" tIns="0" rIns="0" bIns="0" rtlCol="0" anchor="ctr">
            <a:normAutofit/>
          </a:bodyPr>
          <a:lstStyle/>
          <a:p>
            <a:pPr indent="0" marL="0">
              <a:buNone/>
            </a:pPr>
            <a:r>
              <a:rPr lang="en-US" sz="1900" dirty="0">
                <a:solidFill>
                  <a:srgbClr val="E0EAE0"/>
                </a:solidFill>
                <a:latin typeface="Arial" pitchFamily="34" charset="0"/>
                <a:ea typeface="Arial" pitchFamily="34" charset="-122"/>
                <a:cs typeface="Arial" pitchFamily="34" charset="-120"/>
              </a:rPr>
              <a:t>Play moves on the board, then open Findings</a:t>
            </a:r>
            <a:endParaRPr lang="en-US" sz="1900" dirty="0"/>
          </a:p>
        </p:txBody>
      </p:sp>
      <p:sp>
        <p:nvSpPr>
          <p:cNvPr id="16" name="Text 14"/>
          <p:cNvSpPr txBox="1"/>
          <p:nvPr/>
        </p:nvSpPr>
        <p:spPr>
          <a:xfrm>
            <a:off x="640080" y="6153912"/>
            <a:ext cx="10789920" cy="429768"/>
          </a:xfrm>
          <a:prstGeom prst="rect">
            <a:avLst/>
          </a:prstGeom>
          <a:noFill/>
          <a:ln/>
        </p:spPr>
        <p:txBody>
          <a:bodyPr wrap="square" lIns="0" tIns="0" rIns="0" bIns="0" rtlCol="0" anchor="ctr">
            <a:normAutofit/>
          </a:bodyPr>
          <a:lstStyle/>
          <a:p>
            <a:pPr indent="0" marL="0">
              <a:buNone/>
            </a:pPr>
            <a:r>
              <a:rPr lang="en-US" sz="1400" dirty="0">
                <a:solidFill>
                  <a:srgbClr val="D5E1D5"/>
                </a:solidFill>
                <a:latin typeface="Arial" pitchFamily="34" charset="0"/>
                <a:ea typeface="Arial" pitchFamily="34" charset="-122"/>
                <a:cs typeface="Arial" pitchFamily="34" charset="-120"/>
              </a:rPr>
              <a:t>The bundled 60,000-game sample recomputes in a few minutes. Its one-shuffle verdict is exploratory.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1F5F0"/>
        </a:solidFill>
      </p:bgPr>
    </p:bg>
    <p:spTree>
      <p:nvGrpSpPr>
        <p:cNvPr id="1" name=""/>
        <p:cNvGrpSpPr/>
        <p:nvPr/>
      </p:nvGrpSpPr>
      <p:grpSpPr>
        <a:xfrm>
          <a:off x="0" y="0"/>
          <a:ext cx="0" cy="0"/>
          <a:chOff x="0" y="0"/>
          <a:chExt cx="0" cy="0"/>
        </a:xfrm>
      </p:grpSpPr>
      <p:sp>
        <p:nvSpPr>
          <p:cNvPr id="2" name="Text 0"/>
          <p:cNvSpPr txBox="1"/>
          <p:nvPr/>
        </p:nvSpPr>
        <p:spPr>
          <a:xfrm>
            <a:off x="502920" y="329184"/>
            <a:ext cx="594360" cy="219456"/>
          </a:xfrm>
          <a:prstGeom prst="rect">
            <a:avLst/>
          </a:prstGeom>
          <a:noFill/>
          <a:ln/>
        </p:spPr>
        <p:txBody>
          <a:bodyPr wrap="square" lIns="0" tIns="0" rIns="0" bIns="0" rtlCol="0" anchor="ctr">
            <a:normAutofit/>
          </a:bodyPr>
          <a:lstStyle/>
          <a:p>
            <a:pPr indent="0" marL="0">
              <a:buNone/>
            </a:pPr>
            <a:r>
              <a:rPr lang="en-US" sz="1000" b="1" spc="120" kern="0" dirty="0">
                <a:solidFill>
                  <a:srgbClr val="58685D"/>
                </a:solidFill>
                <a:latin typeface="Arial" pitchFamily="34" charset="0"/>
                <a:ea typeface="Arial" pitchFamily="34" charset="-122"/>
                <a:cs typeface="Arial" pitchFamily="34" charset="-120"/>
              </a:rPr>
              <a:t>12</a:t>
            </a:r>
            <a:endParaRPr lang="en-US" sz="1000" dirty="0"/>
          </a:p>
        </p:txBody>
      </p:sp>
      <p:sp>
        <p:nvSpPr>
          <p:cNvPr id="3" name="Text 1"/>
          <p:cNvSpPr txBox="1"/>
          <p:nvPr/>
        </p:nvSpPr>
        <p:spPr>
          <a:xfrm>
            <a:off x="502920" y="658368"/>
            <a:ext cx="11109960" cy="731520"/>
          </a:xfrm>
          <a:prstGeom prst="rect">
            <a:avLst/>
          </a:prstGeom>
          <a:noFill/>
          <a:ln/>
        </p:spPr>
        <p:txBody>
          <a:bodyPr wrap="square" lIns="0" tIns="0" rIns="0" bIns="0" rtlCol="0" anchor="ctr">
            <a:normAutofit/>
          </a:bodyPr>
          <a:lstStyle/>
          <a:p>
            <a:pPr indent="0" marL="0">
              <a:buNone/>
            </a:pPr>
            <a:r>
              <a:rPr lang="en-US" sz="3300" b="1" dirty="0">
                <a:solidFill>
                  <a:srgbClr val="20241F"/>
                </a:solidFill>
                <a:latin typeface="Cambria" pitchFamily="34" charset="0"/>
                <a:ea typeface="Cambria" pitchFamily="34" charset="-122"/>
                <a:cs typeface="Cambria" pitchFamily="34" charset="-120"/>
              </a:rPr>
              <a:t>What we can conclude</a:t>
            </a:r>
            <a:endParaRPr lang="en-US" sz="3300" dirty="0"/>
          </a:p>
        </p:txBody>
      </p:sp>
      <p:sp>
        <p:nvSpPr>
          <p:cNvPr id="4" name="Text 2"/>
          <p:cNvSpPr txBox="1"/>
          <p:nvPr/>
        </p:nvSpPr>
        <p:spPr>
          <a:xfrm>
            <a:off x="658368" y="1627632"/>
            <a:ext cx="4023360" cy="320040"/>
          </a:xfrm>
          <a:prstGeom prst="rect">
            <a:avLst/>
          </a:prstGeom>
          <a:noFill/>
          <a:ln/>
        </p:spPr>
        <p:txBody>
          <a:bodyPr wrap="square" lIns="0" tIns="0" rIns="0" bIns="0" rtlCol="0" anchor="ctr">
            <a:normAutofit/>
          </a:bodyPr>
          <a:lstStyle/>
          <a:p>
            <a:pPr indent="0" marL="0">
              <a:buNone/>
            </a:pPr>
            <a:r>
              <a:rPr lang="en-US" sz="1600" b="1" dirty="0">
                <a:solidFill>
                  <a:srgbClr val="244336"/>
                </a:solidFill>
                <a:latin typeface="Arial" pitchFamily="34" charset="0"/>
                <a:ea typeface="Arial" pitchFamily="34" charset="-122"/>
                <a:cs typeface="Arial" pitchFamily="34" charset="-120"/>
              </a:rPr>
              <a:t>Observed pattern</a:t>
            </a:r>
            <a:endParaRPr lang="en-US" sz="1600" dirty="0"/>
          </a:p>
        </p:txBody>
      </p:sp>
      <p:sp>
        <p:nvSpPr>
          <p:cNvPr id="5" name="Text 3"/>
          <p:cNvSpPr txBox="1"/>
          <p:nvPr/>
        </p:nvSpPr>
        <p:spPr>
          <a:xfrm>
            <a:off x="658368" y="2039112"/>
            <a:ext cx="4937760" cy="2011680"/>
          </a:xfrm>
          <a:prstGeom prst="rect">
            <a:avLst/>
          </a:prstGeom>
          <a:noFill/>
          <a:ln/>
        </p:spPr>
        <p:txBody>
          <a:bodyPr wrap="square" lIns="0" tIns="0" rIns="0" bIns="0" rtlCol="0" anchor="ctr">
            <a:normAutofit/>
          </a:bodyPr>
          <a:lstStyle/>
          <a:p>
            <a:pPr indent="0" marL="0">
              <a:buNone/>
            </a:pPr>
            <a:r>
              <a:rPr lang="en-US" sz="2400" dirty="0">
                <a:solidFill>
                  <a:srgbClr val="20241F"/>
                </a:solidFill>
                <a:latin typeface="Arial" pitchFamily="34" charset="0"/>
                <a:ea typeface="Arial" pitchFamily="34" charset="-122"/>
                <a:cs typeface="Arial" pitchFamily="34" charset="-120"/>
              </a:rPr>
              <a:t>One exposure carries a small excess over shuffled time. More distinct opponents do not add a clear reinforcement effect.</a:t>
            </a:r>
            <a:endParaRPr lang="en-US" sz="2400" dirty="0"/>
          </a:p>
        </p:txBody>
      </p:sp>
      <p:sp>
        <p:nvSpPr>
          <p:cNvPr id="6" name="Text 4"/>
          <p:cNvSpPr txBox="1"/>
          <p:nvPr/>
        </p:nvSpPr>
        <p:spPr>
          <a:xfrm>
            <a:off x="6446520" y="1627632"/>
            <a:ext cx="3840480" cy="320040"/>
          </a:xfrm>
          <a:prstGeom prst="rect">
            <a:avLst/>
          </a:prstGeom>
          <a:noFill/>
          <a:ln/>
        </p:spPr>
        <p:txBody>
          <a:bodyPr wrap="square" lIns="0" tIns="0" rIns="0" bIns="0" rtlCol="0" anchor="ctr">
            <a:normAutofit/>
          </a:bodyPr>
          <a:lstStyle/>
          <a:p>
            <a:pPr indent="0" marL="0">
              <a:buNone/>
            </a:pPr>
            <a:r>
              <a:rPr lang="en-US" sz="1600" b="1" dirty="0">
                <a:solidFill>
                  <a:srgbClr val="AA5A4A"/>
                </a:solidFill>
                <a:latin typeface="Arial" pitchFamily="34" charset="0"/>
                <a:ea typeface="Arial" pitchFamily="34" charset="-122"/>
                <a:cs typeface="Arial" pitchFamily="34" charset="-120"/>
              </a:rPr>
              <a:t>Important limit</a:t>
            </a:r>
            <a:endParaRPr lang="en-US" sz="1600" dirty="0"/>
          </a:p>
        </p:txBody>
      </p:sp>
      <p:sp>
        <p:nvSpPr>
          <p:cNvPr id="7" name="Text 5"/>
          <p:cNvSpPr txBox="1"/>
          <p:nvPr/>
        </p:nvSpPr>
        <p:spPr>
          <a:xfrm>
            <a:off x="6446520" y="2039112"/>
            <a:ext cx="4800600" cy="2011680"/>
          </a:xfrm>
          <a:prstGeom prst="rect">
            <a:avLst/>
          </a:prstGeom>
          <a:noFill/>
          <a:ln/>
        </p:spPr>
        <p:txBody>
          <a:bodyPr wrap="square" lIns="0" tIns="0" rIns="0" bIns="0" rtlCol="0" anchor="ctr">
            <a:normAutofit/>
          </a:bodyPr>
          <a:lstStyle/>
          <a:p>
            <a:pPr indent="0" marL="0">
              <a:buNone/>
            </a:pPr>
            <a:r>
              <a:rPr lang="en-US" sz="2300" dirty="0">
                <a:solidFill>
                  <a:srgbClr val="20241F"/>
                </a:solidFill>
                <a:latin typeface="Arial" pitchFamily="34" charset="0"/>
                <a:ea typeface="Arial" pitchFamily="34" charset="-122"/>
                <a:cs typeface="Arial" pitchFamily="34" charset="-120"/>
              </a:rPr>
              <a:t>Opponents, openings and player behaviour are selected, not randomized. The evidence supports an association, not a causal claim.</a:t>
            </a:r>
            <a:endParaRPr lang="en-US" sz="2300" dirty="0"/>
          </a:p>
        </p:txBody>
      </p:sp>
      <p:sp>
        <p:nvSpPr>
          <p:cNvPr id="8" name="Text 6"/>
          <p:cNvSpPr txBox="1"/>
          <p:nvPr/>
        </p:nvSpPr>
        <p:spPr>
          <a:xfrm>
            <a:off x="658368" y="4873752"/>
            <a:ext cx="1828800" cy="292608"/>
          </a:xfrm>
          <a:prstGeom prst="rect">
            <a:avLst/>
          </a:prstGeom>
          <a:noFill/>
          <a:ln/>
        </p:spPr>
        <p:txBody>
          <a:bodyPr wrap="square" lIns="0" tIns="0" rIns="0" bIns="0" rtlCol="0" anchor="ctr">
            <a:normAutofit/>
          </a:bodyPr>
          <a:lstStyle/>
          <a:p>
            <a:pPr indent="0" marL="0">
              <a:buNone/>
            </a:pPr>
            <a:r>
              <a:rPr lang="en-US" sz="1600" b="1" dirty="0">
                <a:solidFill>
                  <a:srgbClr val="244336"/>
                </a:solidFill>
                <a:latin typeface="Arial" pitchFamily="34" charset="0"/>
                <a:ea typeface="Arial" pitchFamily="34" charset="-122"/>
                <a:cs typeface="Arial" pitchFamily="34" charset="-120"/>
              </a:rPr>
              <a:t>Next test</a:t>
            </a:r>
            <a:endParaRPr lang="en-US" sz="1600" dirty="0"/>
          </a:p>
        </p:txBody>
      </p:sp>
      <p:sp>
        <p:nvSpPr>
          <p:cNvPr id="9" name="Text 7"/>
          <p:cNvSpPr txBox="1"/>
          <p:nvPr/>
        </p:nvSpPr>
        <p:spPr>
          <a:xfrm>
            <a:off x="658368" y="5303520"/>
            <a:ext cx="10515600" cy="822960"/>
          </a:xfrm>
          <a:prstGeom prst="rect">
            <a:avLst/>
          </a:prstGeom>
          <a:noFill/>
          <a:ln/>
        </p:spPr>
        <p:txBody>
          <a:bodyPr wrap="square" lIns="0" tIns="0" rIns="0" bIns="0" rtlCol="0" anchor="ctr">
            <a:normAutofit/>
          </a:bodyPr>
          <a:lstStyle/>
          <a:p>
            <a:pPr indent="0" marL="0">
              <a:buNone/>
            </a:pPr>
            <a:r>
              <a:rPr lang="en-US" sz="2100" dirty="0">
                <a:solidFill>
                  <a:srgbClr val="20241F"/>
                </a:solidFill>
                <a:latin typeface="Arial" pitchFamily="34" charset="0"/>
                <a:ea typeface="Arial" pitchFamily="34" charset="-122"/>
                <a:cs typeface="Arial" pitchFamily="34" charset="-120"/>
              </a:rPr>
              <a:t>Repeat the complete pipeline on another archive month when a verified download is available.</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Student research project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Chess Openings as Contagion: project presentation</dc:title>
  <dc:subject>Chess openings as contagion</dc:subject>
  <dc:creator>BlackBeanEagles</dc:creator>
  <cp:lastModifiedBy>BlackBeanEagles</cp:lastModifiedBy>
  <cp:revision>1</cp:revision>
  <dcterms:created xsi:type="dcterms:W3CDTF">2026-10-30T10:12:39Z</dcterms:created>
  <dcterms:modified xsi:type="dcterms:W3CDTF">2026-10-30T10:12:39Z</dcterms:modified>
</cp:coreProperties>
</file>